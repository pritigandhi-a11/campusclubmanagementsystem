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evaluators and committee members. Today I am presenting our college mini-project: The Campus Club Management System. This is a desktop application developed using Java 17, Java Swing, and MySQL 8 via JDBC, designed to centralize and automate student club activities across our campus.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colleges today, club operations are scattered across informal chat groups and unlinked spreadsheets. This creates major problems: event halls get overcrowded because forms lack automated capacity limits, students miss deadlines, and coordinators spend countless hours manually tracking records. Our project addresses these exact challenges.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direct comparison between the traditional spreadsheet approach and our Campus Club Management System. Unlike spreadsheets that allow duplicate entries and lack access controls, our system enforces relational integrity, role-based boundaries, and automated seat limits at both the application and database tiers.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objectives center around providing three role-based portals, automated seat capacity enforcement, and rule-based club recommendations. The hardware and software requirements are lightweight: any standard college PC with Java 17 and MySQL 8 can run the system smoothly without requiring internet connectivity.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technology in our stack was chosen deliberately. We selected Java 17 for long-term stability, Swing for an isolated desktop experience that doesn't depend on web servers or internet access, native JDBC for explicit control over SQL execution, and MySQL 8 for robust relational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4-tier layered architecture. Requests flow downwards from Swing GUI to Service, then to DAO, and finally through JDBC to MySQL. Crucially, presentation classes contain zero SQL code. The Service layer isolates all business validations, and the DAO layer abstracts away all database queries.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database schema consists of seven tables in 3rd Normal Form. In addition to foreign key constraints with ON DELETE CASCADE, we enforce business rules like anti-duplicate membership and anti-duplicate event booking directly at the schema level using composite UNIQUE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codebase serves as a thorough demonstration of OOP principles. Encapsulation protects private fields with bounds checking; Inheritance establishes an abstract User hierarchy; Abstraction defines clean service contracts; Polymorphism dynamically dispatches dashboard loading; and Composition models rich 'Has-A'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separated checked exceptions for expected business rule violations from unchecked exceptions for infrastructure faults. When a student tries to register for a full event, an EventRegistrationException is thrown by the service layer, caught by the GUI, and displayed as a clean warning dialog rather than crashing the JVM.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Smart Recommendation Engine runs locally on the JVM without external AI APIs, preserving student privacy. It filters out clubs the student has already joined using an O(1) HashSet, scores candidate clubs using five transparent rules, and extracts the top recommendations using a Max-Heap PriorityQueue.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features 15 functional tabs divided across three role-specific dashboards. Students discover clubs, manage passes, and view recommendations. Coordinators are scoped strictly to their assigned club to approve members and manage rosters. Administrators have macro governance over users and clubs.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was built into the architecture from day one. All passwords are encrypted with SHA-256, all database queries use parameterized PreparedStatements to guarantee SQL injection immunity, and the User Registry table never exposes password hashes.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verified the entire system using 91 automated JUnit 5 tests. 80 unit, model, and GUI integration tests pass with 0 failures and 0 errors. The 11 live database tests use JUnit assumptions to run when live MySQL is available and skip gracefully when offline. All 15 GUI tabs have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Campus Club Management System delivers a robust, secure, and user-friendly desktop solution that solves genuine college extracurricular challenges while demonstrating complete software engineering rigor. Thank you for your time, guidance, and evaluation. We are now open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0F172A"/>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005840"/>
            <a:ext cx="10058400" cy="1645920"/>
          </a:xfrm>
          <a:prstGeom prst="rect">
            <a:avLst/>
          </a:prstGeom>
          <a:noFill/>
        </p:spPr>
        <p:txBody>
          <a:bodyPr wrap="square">
            <a:spAutoFit/>
          </a:bodyPr>
          <a:lstStyle/>
          <a:p>
            <a:pPr>
              <a:defRPr sz="3600" b="1">
                <a:solidFill>
                  <a:srgbClr val="FFFFFF"/>
                </a:solidFill>
              </a:defRPr>
            </a:pPr>
            <a:r>
              <a:t>Campus Club Management System</a:t>
            </a:r>
          </a:p>
          <a:p>
            <a:pPr>
              <a:defRPr sz="1800">
                <a:solidFill>
                  <a:srgbClr val="10B981"/>
                </a:solidFill>
              </a:defRPr>
            </a:pPr>
            <a:r>
              <a:t>A Desktop Extracurricular Activity &amp; Club Administration Platform</a:t>
            </a:r>
          </a:p>
          <a:p>
            <a:pPr>
              <a:defRPr sz="1300">
                <a:solidFill>
                  <a:srgbClr val="CBD5E1"/>
                </a:solidFill>
              </a:defRPr>
            </a:pPr>
            <a:r>
              <a:t>Java 17 LTS  |  Java Swing  |  JDBC  |  MySQL 8.4  |  Apache Maven 3.10</a:t>
            </a:r>
          </a:p>
        </p:txBody>
      </p:sp>
      <p:sp>
        <p:nvSpPr>
          <p:cNvPr id="5" name="Rounded Rectangle 4"/>
          <p:cNvSpPr/>
          <p:nvPr/>
        </p:nvSpPr>
        <p:spPr>
          <a:xfrm>
            <a:off x="1188720" y="3108960"/>
            <a:ext cx="4572000" cy="2468880"/>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0B981"/>
                </a:solidFill>
              </a:defRPr>
            </a:pPr>
            <a:r>
              <a:t>STUDENT / TEAM DETAILS</a:t>
            </a:r>
          </a:p>
          <a:p>
            <a:br/>
            <a:pPr>
              <a:defRPr sz="1300">
                <a:solidFill>
                  <a:srgbClr val="FFFFFF"/>
                </a:solidFill>
              </a:defRPr>
            </a:pPr>
            <a:r>
              <a:t>Student Name: [Your Full Name]</a:t>
            </a:r>
          </a:p>
          <a:p>
            <a:pPr>
              <a:defRPr sz="1300">
                <a:solidFill>
                  <a:srgbClr val="FFFFFF"/>
                </a:solidFill>
              </a:defRPr>
            </a:pPr>
            <a:r>
              <a:t>Register / USN No: [Your USN / Roll No]</a:t>
            </a:r>
          </a:p>
          <a:p>
            <a:pPr>
              <a:defRPr sz="1200">
                <a:solidFill>
                  <a:srgbClr val="CBD5E1"/>
                </a:solidFill>
              </a:defRPr>
            </a:pPr>
            <a:r>
              <a:t>Degree: B.E. / B.Tech Computer Science &amp; Engg</a:t>
            </a:r>
          </a:p>
        </p:txBody>
      </p:sp>
      <p:sp>
        <p:nvSpPr>
          <p:cNvPr id="6" name="Rounded Rectangle 5"/>
          <p:cNvSpPr/>
          <p:nvPr/>
        </p:nvSpPr>
        <p:spPr>
          <a:xfrm>
            <a:off x="6217920" y="3108960"/>
            <a:ext cx="4754880" cy="2468880"/>
          </a:xfrm>
          <a:prstGeom prst="roundRect">
            <a:avLst/>
          </a:prstGeom>
          <a:solidFill>
            <a:srgbClr val="1E293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b="1" sz="1400">
                <a:solidFill>
                  <a:srgbClr val="10B981"/>
                </a:solidFill>
              </a:defRPr>
            </a:pPr>
            <a:r>
              <a:t>ACADEMIC &amp; GUIDE DETAILS</a:t>
            </a:r>
          </a:p>
          <a:p>
            <a:br/>
            <a:pPr>
              <a:defRPr sz="1300">
                <a:solidFill>
                  <a:srgbClr val="FFFFFF"/>
                </a:solidFill>
              </a:defRPr>
            </a:pPr>
            <a:r>
              <a:t>Project Supervisor: [Guide Name &amp; Designation]</a:t>
            </a:r>
          </a:p>
          <a:p>
            <a:pPr>
              <a:defRPr sz="1300">
                <a:solidFill>
                  <a:srgbClr val="FFFFFF"/>
                </a:solidFill>
              </a:defRPr>
            </a:pPr>
            <a:r>
              <a:t>Department: Computer Science and Engineering</a:t>
            </a:r>
          </a:p>
          <a:p>
            <a:pPr>
              <a:defRPr sz="1200">
                <a:solidFill>
                  <a:srgbClr val="CBD5E1"/>
                </a:solidFill>
              </a:defRPr>
            </a:pPr>
            <a:r>
              <a:t>Institution: [Your College / University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BACKGROUND &amp; CONTEXT</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Introduction &amp; Problem Statement</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Background &amp; Importance</a:t>
            </a:r>
          </a:p>
        </p:txBody>
      </p:sp>
      <p:sp>
        <p:nvSpPr>
          <p:cNvPr id="8" name="TextBox 7"/>
          <p:cNvSpPr txBox="1"/>
          <p:nvPr/>
        </p:nvSpPr>
        <p:spPr>
          <a:xfrm>
            <a:off x="914400" y="1920240"/>
            <a:ext cx="4754880" cy="4114800"/>
          </a:xfrm>
          <a:prstGeom prst="rect">
            <a:avLst/>
          </a:prstGeom>
          <a:noFill/>
        </p:spPr>
        <p:txBody>
          <a:bodyPr wrap="square">
            <a:spAutoFit/>
          </a:bodyPr>
          <a:lstStyle/>
          <a:p>
            <a:pPr>
              <a:defRPr sz="1300">
                <a:solidFill>
                  <a:srgbClr val="0F172A"/>
                </a:solidFill>
              </a:defRPr>
            </a:pPr>
            <a:r>
              <a:t>• Student clubs form the center of experiential learning, technical coding, and campus leadership.</a:t>
            </a:r>
          </a:p>
          <a:p>
            <a:br/>
            <a:pPr>
              <a:defRPr sz="1300">
                <a:solidFill>
                  <a:srgbClr val="0F172A"/>
                </a:solidFill>
              </a:defRPr>
            </a:pPr>
            <a:r>
              <a:t>• Active clubs on campus include technical coding clubs, robotics labs, sports teams, cultural societies, and incubation hubs.</a:t>
            </a:r>
          </a:p>
          <a:p>
            <a:br/>
            <a:pPr>
              <a:defRPr sz="1300">
                <a:solidFill>
                  <a:srgbClr val="0F172A"/>
                </a:solidFill>
              </a:defRPr>
            </a:pPr>
            <a:r>
              <a:t>• Currently, these organizations operate independently without centralized digital tooling, leading to significant administrative overhead.</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Key Problems in College Campus Today</a:t>
            </a:r>
          </a:p>
        </p:txBody>
      </p:sp>
      <p:sp>
        <p:nvSpPr>
          <p:cNvPr id="11" name="TextBox 10"/>
          <p:cNvSpPr txBox="1"/>
          <p:nvPr/>
        </p:nvSpPr>
        <p:spPr>
          <a:xfrm>
            <a:off x="6400800" y="1920240"/>
            <a:ext cx="4846320" cy="4114800"/>
          </a:xfrm>
          <a:prstGeom prst="rect">
            <a:avLst/>
          </a:prstGeom>
          <a:noFill/>
        </p:spPr>
        <p:txBody>
          <a:bodyPr wrap="square">
            <a:spAutoFit/>
          </a:bodyPr>
          <a:lstStyle/>
          <a:p>
            <a:pPr>
              <a:defRPr sz="1300">
                <a:solidFill>
                  <a:srgbClr val="0F172A"/>
                </a:solidFill>
              </a:defRPr>
            </a:pPr>
            <a:r>
              <a:t>1. Information Fragmentation:</a:t>
            </a:r>
            <a:br/>
            <a:r>
              <a:t>Event posters and club announcements are lost in unorganized chat groups, causing missed deadlines.</a:t>
            </a:r>
          </a:p>
          <a:p>
            <a:br/>
            <a:pPr>
              <a:defRPr sz="1300">
                <a:solidFill>
                  <a:srgbClr val="0F172A"/>
                </a:solidFill>
              </a:defRPr>
            </a:pPr>
            <a:r>
              <a:t>2. Spreadsheet Inaccuracy:</a:t>
            </a:r>
            <a:br/>
            <a:r>
              <a:t>Manual Excel/Google Sheets lead to duplicate memberships, accidental record loss, and conflicting schedules.</a:t>
            </a:r>
          </a:p>
          <a:p>
            <a:br/>
            <a:pPr>
              <a:defRPr sz="1300">
                <a:solidFill>
                  <a:srgbClr val="0F172A"/>
                </a:solidFill>
              </a:defRPr>
            </a:pPr>
            <a:r>
              <a:t>3. Uncontrolled Venue Overcrowding:</a:t>
            </a:r>
            <a:br/>
            <a:r>
              <a:t>Manual forms fail to enforce seat capacity limits, resulting in seminar halls overflowing on event day.</a:t>
            </a:r>
          </a:p>
          <a:p>
            <a:br/>
            <a:pPr>
              <a:defRPr sz="1300">
                <a:solidFill>
                  <a:srgbClr val="0F172A"/>
                </a:solidFill>
              </a:defRPr>
            </a:pPr>
            <a:r>
              <a:t>4. No Interest-Driven Discovery:</a:t>
            </a:r>
            <a:br/>
            <a:r>
              <a:t>New students lack guidance on which clubs align with their academic branch and skill interests.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SYSTEM COMPARISON</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Existing System vs. Proposed Proposed System</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560320"/>
                <a:gridCol w="4023360"/>
                <a:gridCol w="4144975"/>
              </a:tblGrid>
              <a:tr h="792480">
                <a:tc>
                  <a:txBody>
                    <a:bodyPr/>
                    <a:lstStyle/>
                    <a:p>
                      <a:pPr algn="ctr">
                        <a:defRPr b="1" sz="1400">
                          <a:solidFill>
                            <a:srgbClr val="FFFFFF"/>
                          </a:solidFill>
                        </a:defRPr>
                      </a:pPr>
                      <a:r>
                        <a:t>Evaluation Metric</a:t>
                      </a:r>
                    </a:p>
                  </a:txBody>
                  <a:tcPr>
                    <a:solidFill>
                      <a:srgbClr val="192A56"/>
                    </a:solidFill>
                  </a:tcPr>
                </a:tc>
                <a:tc>
                  <a:txBody>
                    <a:bodyPr/>
                    <a:lstStyle/>
                    <a:p>
                      <a:pPr algn="ctr">
                        <a:defRPr b="1" sz="1400">
                          <a:solidFill>
                            <a:srgbClr val="FFFFFF"/>
                          </a:solidFill>
                        </a:defRPr>
                      </a:pPr>
                      <a:r>
                        <a:t>Existing System (Manual / Sheets)</a:t>
                      </a:r>
                    </a:p>
                  </a:txBody>
                  <a:tcPr>
                    <a:solidFill>
                      <a:srgbClr val="192A56"/>
                    </a:solidFill>
                  </a:tcPr>
                </a:tc>
                <a:tc>
                  <a:txBody>
                    <a:bodyPr/>
                    <a:lstStyle/>
                    <a:p>
                      <a:pPr algn="ctr">
                        <a:defRPr b="1" sz="1400">
                          <a:solidFill>
                            <a:srgbClr val="FFFFFF"/>
                          </a:solidFill>
                        </a:defRPr>
                      </a:pPr>
                      <a:r>
                        <a:t>Proposed CCMS (Java Swing &amp; MySQL)</a:t>
                      </a:r>
                    </a:p>
                  </a:txBody>
                  <a:tcPr>
                    <a:solidFill>
                      <a:srgbClr val="192A56"/>
                    </a:solidFill>
                  </a:tcPr>
                </a:tc>
              </a:tr>
              <a:tr h="792480">
                <a:tc>
                  <a:txBody>
                    <a:bodyPr/>
                    <a:lstStyle/>
                    <a:p>
                      <a:pPr>
                        <a:defRPr sz="1200" b="1">
                          <a:solidFill>
                            <a:srgbClr val="0F172A"/>
                          </a:solidFill>
                        </a:defRPr>
                      </a:pPr>
                      <a:r>
                        <a:t>Architecture</a:t>
                      </a:r>
                    </a:p>
                  </a:txBody>
                  <a:tcPr>
                    <a:solidFill>
                      <a:srgbClr val="FFFFFF"/>
                    </a:solidFill>
                  </a:tcPr>
                </a:tc>
                <a:tc>
                  <a:txBody>
                    <a:bodyPr/>
                    <a:lstStyle/>
                    <a:p>
                      <a:pPr>
                        <a:defRPr sz="1200">
                          <a:solidFill>
                            <a:srgbClr val="0F172A"/>
                          </a:solidFill>
                        </a:defRPr>
                      </a:pPr>
                      <a:r>
                        <a:t>Disjointed Google Forms, Sheets, WhatsApp</a:t>
                      </a:r>
                    </a:p>
                  </a:txBody>
                  <a:tcPr>
                    <a:solidFill>
                      <a:srgbClr val="FFFFFF"/>
                    </a:solidFill>
                  </a:tcPr>
                </a:tc>
                <a:tc>
                  <a:txBody>
                    <a:bodyPr/>
                    <a:lstStyle/>
                    <a:p>
                      <a:pPr>
                        <a:defRPr sz="1200">
                          <a:solidFill>
                            <a:srgbClr val="0F172A"/>
                          </a:solidFill>
                        </a:defRPr>
                      </a:pPr>
                      <a:r>
                        <a:t>Unified 4-Tier Desktop MVC Architecture</a:t>
                      </a:r>
                    </a:p>
                  </a:txBody>
                  <a:tcPr>
                    <a:solidFill>
                      <a:srgbClr val="FFFFFF"/>
                    </a:solidFill>
                  </a:tcPr>
                </a:tc>
              </a:tr>
              <a:tr h="792480">
                <a:tc>
                  <a:txBody>
                    <a:bodyPr/>
                    <a:lstStyle/>
                    <a:p>
                      <a:pPr>
                        <a:defRPr sz="1200" b="1">
                          <a:solidFill>
                            <a:srgbClr val="0F172A"/>
                          </a:solidFill>
                        </a:defRPr>
                      </a:pPr>
                      <a:r>
                        <a:t>Data Consistency</a:t>
                      </a:r>
                    </a:p>
                  </a:txBody>
                  <a:tcPr>
                    <a:solidFill>
                      <a:srgbClr val="F8FAFC"/>
                    </a:solidFill>
                  </a:tcPr>
                </a:tc>
                <a:tc>
                  <a:txBody>
                    <a:bodyPr/>
                    <a:lstStyle/>
                    <a:p>
                      <a:pPr>
                        <a:defRPr sz="1200">
                          <a:solidFill>
                            <a:srgbClr val="0F172A"/>
                          </a:solidFill>
                        </a:defRPr>
                      </a:pPr>
                      <a:r>
                        <a:t>High risk of duplicate rows and data loss</a:t>
                      </a:r>
                    </a:p>
                  </a:txBody>
                  <a:tcPr>
                    <a:solidFill>
                      <a:srgbClr val="F8FAFC"/>
                    </a:solidFill>
                  </a:tcPr>
                </a:tc>
                <a:tc>
                  <a:txBody>
                    <a:bodyPr/>
                    <a:lstStyle/>
                    <a:p>
                      <a:pPr>
                        <a:defRPr sz="1200">
                          <a:solidFill>
                            <a:srgbClr val="0F172A"/>
                          </a:solidFill>
                        </a:defRPr>
                      </a:pPr>
                      <a:r>
                        <a:t>ACID Compliant MySQL with Foreign Keys &amp; Constraints</a:t>
                      </a:r>
                    </a:p>
                  </a:txBody>
                  <a:tcPr>
                    <a:solidFill>
                      <a:srgbClr val="F8FAFC"/>
                    </a:solidFill>
                  </a:tcPr>
                </a:tc>
              </a:tr>
              <a:tr h="792480">
                <a:tc>
                  <a:txBody>
                    <a:bodyPr/>
                    <a:lstStyle/>
                    <a:p>
                      <a:pPr>
                        <a:defRPr sz="1200" b="1">
                          <a:solidFill>
                            <a:srgbClr val="0F172A"/>
                          </a:solidFill>
                        </a:defRPr>
                      </a:pPr>
                      <a:r>
                        <a:t>Access Control</a:t>
                      </a:r>
                    </a:p>
                  </a:txBody>
                  <a:tcPr>
                    <a:solidFill>
                      <a:srgbClr val="FFFFFF"/>
                    </a:solidFill>
                  </a:tcPr>
                </a:tc>
                <a:tc>
                  <a:txBody>
                    <a:bodyPr/>
                    <a:lstStyle/>
                    <a:p>
                      <a:pPr>
                        <a:defRPr sz="1200">
                          <a:solidFill>
                            <a:srgbClr val="0F172A"/>
                          </a:solidFill>
                        </a:defRPr>
                      </a:pPr>
                      <a:r>
                        <a:t>Shared public links with no security boundaries</a:t>
                      </a:r>
                    </a:p>
                  </a:txBody>
                  <a:tcPr>
                    <a:solidFill>
                      <a:srgbClr val="FFFFFF"/>
                    </a:solidFill>
                  </a:tcPr>
                </a:tc>
                <a:tc>
                  <a:txBody>
                    <a:bodyPr/>
                    <a:lstStyle/>
                    <a:p>
                      <a:pPr>
                        <a:defRPr sz="1200">
                          <a:solidFill>
                            <a:srgbClr val="0F172A"/>
                          </a:solidFill>
                        </a:defRPr>
                      </a:pPr>
                      <a:r>
                        <a:t>Strict Role-Based Security (Student / Coord / Admin)</a:t>
                      </a:r>
                    </a:p>
                  </a:txBody>
                  <a:tcPr>
                    <a:solidFill>
                      <a:srgbClr val="FFFFFF"/>
                    </a:solidFill>
                  </a:tcPr>
                </a:tc>
              </a:tr>
              <a:tr h="792480">
                <a:tc>
                  <a:txBody>
                    <a:bodyPr/>
                    <a:lstStyle/>
                    <a:p>
                      <a:pPr>
                        <a:defRPr sz="1200" b="1">
                          <a:solidFill>
                            <a:srgbClr val="0F172A"/>
                          </a:solidFill>
                        </a:defRPr>
                      </a:pPr>
                      <a:r>
                        <a:t>Capacity Management</a:t>
                      </a:r>
                    </a:p>
                  </a:txBody>
                  <a:tcPr>
                    <a:solidFill>
                      <a:srgbClr val="F8FAFC"/>
                    </a:solidFill>
                  </a:tcPr>
                </a:tc>
                <a:tc>
                  <a:txBody>
                    <a:bodyPr/>
                    <a:lstStyle/>
                    <a:p>
                      <a:pPr>
                        <a:defRPr sz="1200">
                          <a:solidFill>
                            <a:srgbClr val="0F172A"/>
                          </a:solidFill>
                        </a:defRPr>
                      </a:pPr>
                      <a:r>
                        <a:t>Manual tallying; frequent hall overfills</a:t>
                      </a:r>
                    </a:p>
                  </a:txBody>
                  <a:tcPr>
                    <a:solidFill>
                      <a:srgbClr val="F8FAFC"/>
                    </a:solidFill>
                  </a:tcPr>
                </a:tc>
                <a:tc>
                  <a:txBody>
                    <a:bodyPr/>
                    <a:lstStyle/>
                    <a:p>
                      <a:pPr>
                        <a:defRPr sz="1200">
                          <a:solidFill>
                            <a:srgbClr val="0F172A"/>
                          </a:solidFill>
                        </a:defRPr>
                      </a:pPr>
                      <a:r>
                        <a:t>Real-time automated seat limit checks &amp; waitlists</a:t>
                      </a:r>
                    </a:p>
                  </a:txBody>
                  <a:tcPr>
                    <a:solidFill>
                      <a:srgbClr val="F8FAFC"/>
                    </a:solidFill>
                  </a:tcPr>
                </a:tc>
              </a:tr>
              <a:tr h="792480">
                <a:tc>
                  <a:txBody>
                    <a:bodyPr/>
                    <a:lstStyle/>
                    <a:p>
                      <a:pPr>
                        <a:defRPr sz="1200" b="1">
                          <a:solidFill>
                            <a:srgbClr val="0F172A"/>
                          </a:solidFill>
                        </a:defRPr>
                      </a:pPr>
                      <a:r>
                        <a:t>Club Discovery</a:t>
                      </a:r>
                    </a:p>
                  </a:txBody>
                  <a:tcPr>
                    <a:solidFill>
                      <a:srgbClr val="FFFFFF"/>
                    </a:solidFill>
                  </a:tcPr>
                </a:tc>
                <a:tc>
                  <a:txBody>
                    <a:bodyPr/>
                    <a:lstStyle/>
                    <a:p>
                      <a:pPr>
                        <a:defRPr sz="1200">
                          <a:solidFill>
                            <a:srgbClr val="0F172A"/>
                          </a:solidFill>
                        </a:defRPr>
                      </a:pPr>
                      <a:r>
                        <a:t>Word of mouth and physical bulletin boards</a:t>
                      </a:r>
                    </a:p>
                  </a:txBody>
                  <a:tcPr>
                    <a:solidFill>
                      <a:srgbClr val="FFFFFF"/>
                    </a:solidFill>
                  </a:tcPr>
                </a:tc>
                <a:tc>
                  <a:txBody>
                    <a:bodyPr/>
                    <a:lstStyle/>
                    <a:p>
                      <a:pPr>
                        <a:defRPr sz="1200">
                          <a:solidFill>
                            <a:srgbClr val="0F172A"/>
                          </a:solidFill>
                        </a:defRPr>
                      </a:pPr>
                      <a:r>
                        <a:t>Rule-Based Smart Recommendation Engine (Max-Heap)</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GOALS &amp; ENVIRONMENT</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Project Objectives &amp; Requirements</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Core Project Objectives</a:t>
            </a:r>
          </a:p>
        </p:txBody>
      </p:sp>
      <p:sp>
        <p:nvSpPr>
          <p:cNvPr id="8" name="TextBox 7"/>
          <p:cNvSpPr txBox="1"/>
          <p:nvPr/>
        </p:nvSpPr>
        <p:spPr>
          <a:xfrm>
            <a:off x="914400" y="1920240"/>
            <a:ext cx="4754880" cy="4114800"/>
          </a:xfrm>
          <a:prstGeom prst="rect">
            <a:avLst/>
          </a:prstGeom>
          <a:noFill/>
        </p:spPr>
        <p:txBody>
          <a:bodyPr wrap="square">
            <a:spAutoFit/>
          </a:bodyPr>
          <a:lstStyle/>
          <a:p>
            <a:pPr>
              <a:defRPr sz="1200">
                <a:solidFill>
                  <a:srgbClr val="0F172A"/>
                </a:solidFill>
              </a:defRPr>
            </a:pPr>
            <a:r>
              <a:t>1. Centralized College Hub:</a:t>
            </a:r>
            <a:br/>
            <a:r>
              <a:t>Provide dedicated desktop portals for Students, Club Coordinators, and System Administrators.</a:t>
            </a:r>
          </a:p>
          <a:p>
            <a:br/>
            <a:pPr>
              <a:defRPr sz="1200">
                <a:solidFill>
                  <a:srgbClr val="0F172A"/>
                </a:solidFill>
              </a:defRPr>
            </a:pPr>
            <a:r>
              <a:t>2. Automated Operational Workflows:</a:t>
            </a:r>
            <a:br/>
            <a:r>
              <a:t>Eliminate paper applications; handle member approvals, event registrations, and announcements digitally.</a:t>
            </a:r>
          </a:p>
          <a:p>
            <a:br/>
            <a:pPr>
              <a:defRPr sz="1200">
                <a:solidFill>
                  <a:srgbClr val="0F172A"/>
                </a:solidFill>
              </a:defRPr>
            </a:pPr>
            <a:r>
              <a:t>3. Business Rule Integrity:</a:t>
            </a:r>
            <a:br/>
            <a:r>
              <a:t>Prevent duplicate club memberships and enforce event seat caps through dual Java and database constraints.</a:t>
            </a:r>
          </a:p>
          <a:p>
            <a:br/>
            <a:pPr>
              <a:defRPr sz="1200">
                <a:solidFill>
                  <a:srgbClr val="0F172A"/>
                </a:solidFill>
              </a:defRPr>
            </a:pPr>
            <a:r>
              <a:t>4. Intelligent Client-Side Matching:</a:t>
            </a:r>
            <a:br/>
            <a:r>
              <a:t>Recommend clubs matching a student's department and personal interests using a local Max-Heap algorithm.</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Hardware &amp; Software Requirements</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Hardware Requirements:</a:t>
            </a:r>
          </a:p>
          <a:p>
            <a:pPr>
              <a:defRPr sz="1200">
                <a:solidFill>
                  <a:srgbClr val="0F172A"/>
                </a:solidFill>
              </a:defRPr>
            </a:pPr>
            <a:r>
              <a:t>• CPU: Dual-Core 2.0 GHz or higher (Intel Core i3 / AMD Ryzen 3)</a:t>
            </a:r>
            <a:br/>
            <a:r>
              <a:t>• RAM: 4 GB minimum (8 GB recommended)</a:t>
            </a:r>
            <a:br/>
            <a:r>
              <a:t>• Disk: 500 MB free space</a:t>
            </a:r>
            <a:br/>
            <a:r>
              <a:t>• Screen: 1280x720 minimum (1920x1080 recommended)</a:t>
            </a:r>
          </a:p>
          <a:p>
            <a:br/>
            <a:pPr>
              <a:defRPr b="1" sz="1300">
                <a:solidFill>
                  <a:srgbClr val="2563EB"/>
                </a:solidFill>
              </a:defRPr>
            </a:pPr>
            <a:r>
              <a:t>Software Environment:</a:t>
            </a:r>
          </a:p>
          <a:p>
            <a:pPr>
              <a:defRPr sz="1200">
                <a:solidFill>
                  <a:srgbClr val="0F172A"/>
                </a:solidFill>
              </a:defRPr>
            </a:pPr>
            <a:r>
              <a:t>• OS: Windows 10/11 or Linux Ubuntu 20.04+</a:t>
            </a:r>
            <a:br/>
            <a:r>
              <a:t>• JDK: Java SE 17 LTS (Compiled with release target 17)</a:t>
            </a:r>
            <a:br/>
            <a:r>
              <a:t>• Database: MySQL 8.4 Community Server</a:t>
            </a:r>
            <a:br/>
            <a:r>
              <a:t>• JDBC: mysql-connector-j 8.3.0 / 8.4.0</a:t>
            </a:r>
            <a:br/>
            <a:r>
              <a:t>• Build Tool: Apache Maven 3.10.0</a:t>
            </a:r>
            <a:br/>
            <a:r>
              <a:t>• Testing: JUnit 5 (Jupiter 5.10.2)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TOOLS &amp; DECISIONS</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Technology Stack &amp; Engineering Rationale</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29184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926080" cy="411480"/>
          </a:xfrm>
          <a:prstGeom prst="rect">
            <a:avLst/>
          </a:prstGeom>
          <a:noFill/>
        </p:spPr>
        <p:txBody>
          <a:bodyPr wrap="square">
            <a:spAutoFit/>
          </a:bodyPr>
          <a:lstStyle/>
          <a:p>
            <a:pPr>
              <a:defRPr sz="1500" b="1">
                <a:solidFill>
                  <a:srgbClr val="2563EB"/>
                </a:solidFill>
              </a:defRPr>
            </a:pPr>
            <a:r>
              <a:t>Java 17 LTS</a:t>
            </a:r>
          </a:p>
        </p:txBody>
      </p:sp>
      <p:sp>
        <p:nvSpPr>
          <p:cNvPr id="8" name="TextBox 7"/>
          <p:cNvSpPr txBox="1"/>
          <p:nvPr/>
        </p:nvSpPr>
        <p:spPr>
          <a:xfrm>
            <a:off x="914400" y="1965960"/>
            <a:ext cx="2926080" cy="1554480"/>
          </a:xfrm>
          <a:prstGeom prst="rect">
            <a:avLst/>
          </a:prstGeom>
          <a:noFill/>
        </p:spPr>
        <p:txBody>
          <a:bodyPr wrap="square">
            <a:spAutoFit/>
          </a:bodyPr>
          <a:lstStyle/>
          <a:p>
            <a:pPr>
              <a:defRPr b="1" sz="1000">
                <a:solidFill>
                  <a:srgbClr val="10B981"/>
                </a:solidFill>
              </a:defRPr>
            </a:pPr>
            <a:r>
              <a:t>PLATFORM CORE</a:t>
            </a:r>
          </a:p>
          <a:p>
            <a:pPr>
              <a:defRPr sz="1100">
                <a:solidFill>
                  <a:srgbClr val="0F172A"/>
                </a:solidFill>
              </a:defRPr>
            </a:pPr>
            <a:r>
              <a:t>Modern LTS version providing sealed classes, pattern matching, records, and strong performance without experimental features.</a:t>
            </a:r>
          </a:p>
        </p:txBody>
      </p:sp>
      <p:sp>
        <p:nvSpPr>
          <p:cNvPr id="9" name="Rounded Rectangle 8"/>
          <p:cNvSpPr/>
          <p:nvPr/>
        </p:nvSpPr>
        <p:spPr>
          <a:xfrm>
            <a:off x="4389120" y="1371600"/>
            <a:ext cx="329184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2926080" cy="411480"/>
          </a:xfrm>
          <a:prstGeom prst="rect">
            <a:avLst/>
          </a:prstGeom>
          <a:noFill/>
        </p:spPr>
        <p:txBody>
          <a:bodyPr wrap="square">
            <a:spAutoFit/>
          </a:bodyPr>
          <a:lstStyle/>
          <a:p>
            <a:pPr>
              <a:defRPr sz="1500" b="1">
                <a:solidFill>
                  <a:srgbClr val="2563EB"/>
                </a:solidFill>
              </a:defRPr>
            </a:pPr>
            <a:r>
              <a:t>Java Swing</a:t>
            </a:r>
          </a:p>
        </p:txBody>
      </p:sp>
      <p:sp>
        <p:nvSpPr>
          <p:cNvPr id="11" name="TextBox 10"/>
          <p:cNvSpPr txBox="1"/>
          <p:nvPr/>
        </p:nvSpPr>
        <p:spPr>
          <a:xfrm>
            <a:off x="4572000" y="1965960"/>
            <a:ext cx="2926080" cy="1554480"/>
          </a:xfrm>
          <a:prstGeom prst="rect">
            <a:avLst/>
          </a:prstGeom>
          <a:noFill/>
        </p:spPr>
        <p:txBody>
          <a:bodyPr wrap="square">
            <a:spAutoFit/>
          </a:bodyPr>
          <a:lstStyle/>
          <a:p>
            <a:pPr>
              <a:defRPr b="1" sz="1000">
                <a:solidFill>
                  <a:srgbClr val="10B981"/>
                </a:solidFill>
              </a:defRPr>
            </a:pPr>
            <a:r>
              <a:t>DESKTOP GUI</a:t>
            </a:r>
          </a:p>
          <a:p>
            <a:pPr>
              <a:defRPr sz="1100">
                <a:solidFill>
                  <a:srgbClr val="0F172A"/>
                </a:solidFill>
              </a:defRPr>
            </a:pPr>
            <a:r>
              <a:t>Pure desktop UI with zero web dependencies. Uses Event Dispatch Thread (EDT) and UITheme design system for high responsiveness.</a:t>
            </a:r>
          </a:p>
        </p:txBody>
      </p:sp>
      <p:sp>
        <p:nvSpPr>
          <p:cNvPr id="12" name="Rounded Rectangle 11"/>
          <p:cNvSpPr/>
          <p:nvPr/>
        </p:nvSpPr>
        <p:spPr>
          <a:xfrm>
            <a:off x="8046720" y="1371600"/>
            <a:ext cx="33832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11480"/>
          </a:xfrm>
          <a:prstGeom prst="rect">
            <a:avLst/>
          </a:prstGeom>
          <a:noFill/>
        </p:spPr>
        <p:txBody>
          <a:bodyPr wrap="square">
            <a:spAutoFit/>
          </a:bodyPr>
          <a:lstStyle/>
          <a:p>
            <a:pPr>
              <a:defRPr sz="1500" b="1">
                <a:solidFill>
                  <a:srgbClr val="2563EB"/>
                </a:solidFill>
              </a:defRPr>
            </a:pPr>
            <a:r>
              <a:t>MySQL 8.4</a:t>
            </a:r>
          </a:p>
        </p:txBody>
      </p:sp>
      <p:sp>
        <p:nvSpPr>
          <p:cNvPr id="14" name="TextBox 13"/>
          <p:cNvSpPr txBox="1"/>
          <p:nvPr/>
        </p:nvSpPr>
        <p:spPr>
          <a:xfrm>
            <a:off x="8229600" y="1965960"/>
            <a:ext cx="3017520" cy="1554480"/>
          </a:xfrm>
          <a:prstGeom prst="rect">
            <a:avLst/>
          </a:prstGeom>
          <a:noFill/>
        </p:spPr>
        <p:txBody>
          <a:bodyPr wrap="square">
            <a:spAutoFit/>
          </a:bodyPr>
          <a:lstStyle/>
          <a:p>
            <a:pPr>
              <a:defRPr b="1" sz="1000">
                <a:solidFill>
                  <a:srgbClr val="10B981"/>
                </a:solidFill>
              </a:defRPr>
            </a:pPr>
            <a:r>
              <a:t>RELATIONAL STORAGE</a:t>
            </a:r>
          </a:p>
          <a:p>
            <a:pPr>
              <a:defRPr sz="1100">
                <a:solidFill>
                  <a:srgbClr val="0F172A"/>
                </a:solidFill>
              </a:defRPr>
            </a:pPr>
            <a:r>
              <a:t>ACID-compliant relational database. Enforces Foreign Key cascades and composite UNIQUE constraints for bulletproof integrity.</a:t>
            </a:r>
          </a:p>
        </p:txBody>
      </p:sp>
      <p:sp>
        <p:nvSpPr>
          <p:cNvPr id="15" name="Rounded Rectangle 14"/>
          <p:cNvSpPr/>
          <p:nvPr/>
        </p:nvSpPr>
        <p:spPr>
          <a:xfrm>
            <a:off x="731520" y="3931920"/>
            <a:ext cx="329184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069080"/>
            <a:ext cx="2926080" cy="411480"/>
          </a:xfrm>
          <a:prstGeom prst="rect">
            <a:avLst/>
          </a:prstGeom>
          <a:noFill/>
        </p:spPr>
        <p:txBody>
          <a:bodyPr wrap="square">
            <a:spAutoFit/>
          </a:bodyPr>
          <a:lstStyle/>
          <a:p>
            <a:pPr>
              <a:defRPr sz="1500" b="1">
                <a:solidFill>
                  <a:srgbClr val="2563EB"/>
                </a:solidFill>
              </a:defRPr>
            </a:pPr>
            <a:r>
              <a:t>Native JDBC</a:t>
            </a:r>
          </a:p>
        </p:txBody>
      </p:sp>
      <p:sp>
        <p:nvSpPr>
          <p:cNvPr id="17" name="TextBox 16"/>
          <p:cNvSpPr txBox="1"/>
          <p:nvPr/>
        </p:nvSpPr>
        <p:spPr>
          <a:xfrm>
            <a:off x="914400" y="4526280"/>
            <a:ext cx="2926080" cy="1645920"/>
          </a:xfrm>
          <a:prstGeom prst="rect">
            <a:avLst/>
          </a:prstGeom>
          <a:noFill/>
        </p:spPr>
        <p:txBody>
          <a:bodyPr wrap="square">
            <a:spAutoFit/>
          </a:bodyPr>
          <a:lstStyle/>
          <a:p>
            <a:pPr>
              <a:defRPr b="1" sz="1000">
                <a:solidFill>
                  <a:srgbClr val="10B981"/>
                </a:solidFill>
              </a:defRPr>
            </a:pPr>
            <a:r>
              <a:t>PERSISTENCE LAYER</a:t>
            </a:r>
          </a:p>
          <a:p>
            <a:pPr>
              <a:defRPr sz="1100">
                <a:solidFill>
                  <a:srgbClr val="0F172A"/>
                </a:solidFill>
              </a:defRPr>
            </a:pPr>
            <a:r>
              <a:t>Direct control over PreparedStatement execution, transaction commits/rollbacks, and eliminates heavy ORM startup overhead.</a:t>
            </a:r>
          </a:p>
        </p:txBody>
      </p:sp>
      <p:sp>
        <p:nvSpPr>
          <p:cNvPr id="18" name="Rounded Rectangle 17"/>
          <p:cNvSpPr/>
          <p:nvPr/>
        </p:nvSpPr>
        <p:spPr>
          <a:xfrm>
            <a:off x="4389120" y="3931920"/>
            <a:ext cx="329184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0" y="4069080"/>
            <a:ext cx="2926080" cy="411480"/>
          </a:xfrm>
          <a:prstGeom prst="rect">
            <a:avLst/>
          </a:prstGeom>
          <a:noFill/>
        </p:spPr>
        <p:txBody>
          <a:bodyPr wrap="square">
            <a:spAutoFit/>
          </a:bodyPr>
          <a:lstStyle/>
          <a:p>
            <a:pPr>
              <a:defRPr sz="1500" b="1">
                <a:solidFill>
                  <a:srgbClr val="2563EB"/>
                </a:solidFill>
              </a:defRPr>
            </a:pPr>
            <a:r>
              <a:t>Apache Maven</a:t>
            </a:r>
          </a:p>
        </p:txBody>
      </p:sp>
      <p:sp>
        <p:nvSpPr>
          <p:cNvPr id="20" name="TextBox 19"/>
          <p:cNvSpPr txBox="1"/>
          <p:nvPr/>
        </p:nvSpPr>
        <p:spPr>
          <a:xfrm>
            <a:off x="4572000" y="4526280"/>
            <a:ext cx="2926080" cy="1645920"/>
          </a:xfrm>
          <a:prstGeom prst="rect">
            <a:avLst/>
          </a:prstGeom>
          <a:noFill/>
        </p:spPr>
        <p:txBody>
          <a:bodyPr wrap="square">
            <a:spAutoFit/>
          </a:bodyPr>
          <a:lstStyle/>
          <a:p>
            <a:pPr>
              <a:defRPr b="1" sz="1000">
                <a:solidFill>
                  <a:srgbClr val="10B981"/>
                </a:solidFill>
              </a:defRPr>
            </a:pPr>
            <a:r>
              <a:t>BUILD &amp; LIFECYCLE</a:t>
            </a:r>
          </a:p>
          <a:p>
            <a:pPr>
              <a:defRPr sz="1100">
                <a:solidFill>
                  <a:srgbClr val="0F172A"/>
                </a:solidFill>
              </a:defRPr>
            </a:pPr>
            <a:r>
              <a:t>Standardized dependency management and reproducible multi-phase build (clean, compile, test, package) generating a clean JAR.</a:t>
            </a:r>
          </a:p>
        </p:txBody>
      </p:sp>
      <p:sp>
        <p:nvSpPr>
          <p:cNvPr id="21" name="Rounded Rectangle 20"/>
          <p:cNvSpPr/>
          <p:nvPr/>
        </p:nvSpPr>
        <p:spPr>
          <a:xfrm>
            <a:off x="8046720" y="3931920"/>
            <a:ext cx="33832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0" y="4069080"/>
            <a:ext cx="3017520" cy="411480"/>
          </a:xfrm>
          <a:prstGeom prst="rect">
            <a:avLst/>
          </a:prstGeom>
          <a:noFill/>
        </p:spPr>
        <p:txBody>
          <a:bodyPr wrap="square">
            <a:spAutoFit/>
          </a:bodyPr>
          <a:lstStyle/>
          <a:p>
            <a:pPr>
              <a:defRPr sz="1500" b="1">
                <a:solidFill>
                  <a:srgbClr val="2563EB"/>
                </a:solidFill>
              </a:defRPr>
            </a:pPr>
            <a:r>
              <a:t>JUnit 5</a:t>
            </a:r>
          </a:p>
        </p:txBody>
      </p:sp>
      <p:sp>
        <p:nvSpPr>
          <p:cNvPr id="23" name="TextBox 22"/>
          <p:cNvSpPr txBox="1"/>
          <p:nvPr/>
        </p:nvSpPr>
        <p:spPr>
          <a:xfrm>
            <a:off x="8229600" y="4526280"/>
            <a:ext cx="3017520" cy="1645920"/>
          </a:xfrm>
          <a:prstGeom prst="rect">
            <a:avLst/>
          </a:prstGeom>
          <a:noFill/>
        </p:spPr>
        <p:txBody>
          <a:bodyPr wrap="square">
            <a:spAutoFit/>
          </a:bodyPr>
          <a:lstStyle/>
          <a:p>
            <a:pPr>
              <a:defRPr b="1" sz="1000">
                <a:solidFill>
                  <a:srgbClr val="10B981"/>
                </a:solidFill>
              </a:defRPr>
            </a:pPr>
            <a:r>
              <a:t>TESTING FRAMEWORK</a:t>
            </a:r>
          </a:p>
          <a:p>
            <a:pPr>
              <a:defRPr sz="1100">
                <a:solidFill>
                  <a:srgbClr val="0F172A"/>
                </a:solidFill>
              </a:defRPr>
            </a:pPr>
            <a:r>
              <a:t>Complete test suite of 91 automated tests verifying OOP models, exception boundaries, recommendations, and GUI integration.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SOFTWARE ARCHITECTURE</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4-Tier Layered System Architecture</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10728655" cy="1051560"/>
          </a:xfrm>
          <a:prstGeom prst="roundRect">
            <a:avLst/>
          </a:prstGeom>
          <a:solidFill>
            <a:srgbClr val="192A56"/>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463040"/>
            <a:ext cx="10180015" cy="868680"/>
          </a:xfrm>
          <a:prstGeom prst="rect">
            <a:avLst/>
          </a:prstGeom>
          <a:noFill/>
        </p:spPr>
        <p:txBody>
          <a:bodyPr wrap="square">
            <a:spAutoFit/>
          </a:bodyPr>
          <a:lstStyle/>
          <a:p>
            <a:pPr>
              <a:defRPr b="1" sz="1300">
                <a:solidFill>
                  <a:srgbClr val="10B981"/>
                </a:solidFill>
              </a:defRPr>
            </a:pPr>
            <a:r>
              <a:t>1. Presentation Tier (Swing GUI)</a:t>
            </a:r>
          </a:p>
          <a:p>
            <a:pPr>
              <a:defRPr sz="1100">
                <a:solidFill>
                  <a:srgbClr val="FFFFFF"/>
                </a:solidFill>
              </a:defRPr>
            </a:pPr>
            <a:r>
              <a:t>LoginFrame, MainFrame (Polymorphic Router), StudentDashboard (7 tabs), CoordinatorDashboard (4 tabs), AdminDashboard (4 tabs), DashboardCard, UITheme</a:t>
            </a:r>
          </a:p>
        </p:txBody>
      </p:sp>
      <p:sp>
        <p:nvSpPr>
          <p:cNvPr id="8" name="Rounded Rectangle 7"/>
          <p:cNvSpPr/>
          <p:nvPr/>
        </p:nvSpPr>
        <p:spPr>
          <a:xfrm>
            <a:off x="731520" y="2606040"/>
            <a:ext cx="10728655" cy="1051560"/>
          </a:xfrm>
          <a:prstGeom prst="roundRect">
            <a:avLst/>
          </a:prstGeom>
          <a:solidFill>
            <a:srgbClr val="2563E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97480"/>
            <a:ext cx="10180015" cy="868680"/>
          </a:xfrm>
          <a:prstGeom prst="rect">
            <a:avLst/>
          </a:prstGeom>
          <a:noFill/>
        </p:spPr>
        <p:txBody>
          <a:bodyPr wrap="square">
            <a:spAutoFit/>
          </a:bodyPr>
          <a:lstStyle/>
          <a:p>
            <a:pPr>
              <a:defRPr b="1" sz="1300">
                <a:solidFill>
                  <a:srgbClr val="10B981"/>
                </a:solidFill>
              </a:defRPr>
            </a:pPr>
            <a:r>
              <a:t>2. Business Logic &amp; Service Tier</a:t>
            </a:r>
          </a:p>
          <a:p>
            <a:pPr>
              <a:defRPr sz="1100">
                <a:solidFill>
                  <a:srgbClr val="FFFFFF"/>
                </a:solidFill>
              </a:defRPr>
            </a:pPr>
            <a:r>
              <a:t>AuthenticationService, ClubService (ClubOperations), EventService (EventOperations), MembershipService (MembershipOperations), StudentService, ClubRecommendationEngine, ValidationUtil</a:t>
            </a:r>
          </a:p>
        </p:txBody>
      </p:sp>
      <p:sp>
        <p:nvSpPr>
          <p:cNvPr id="10" name="Rounded Rectangle 9"/>
          <p:cNvSpPr/>
          <p:nvPr/>
        </p:nvSpPr>
        <p:spPr>
          <a:xfrm>
            <a:off x="731520" y="3840480"/>
            <a:ext cx="10728655" cy="1051560"/>
          </a:xfrm>
          <a:prstGeom prst="roundRect">
            <a:avLst/>
          </a:prstGeom>
          <a:solidFill>
            <a:srgbClr val="1E293B"/>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931920"/>
            <a:ext cx="10180015" cy="868680"/>
          </a:xfrm>
          <a:prstGeom prst="rect">
            <a:avLst/>
          </a:prstGeom>
          <a:noFill/>
        </p:spPr>
        <p:txBody>
          <a:bodyPr wrap="square">
            <a:spAutoFit/>
          </a:bodyPr>
          <a:lstStyle/>
          <a:p>
            <a:pPr>
              <a:defRPr b="1" sz="1300">
                <a:solidFill>
                  <a:srgbClr val="10B981"/>
                </a:solidFill>
              </a:defRPr>
            </a:pPr>
            <a:r>
              <a:t>3. Data Access Object (DAO) Tier</a:t>
            </a:r>
          </a:p>
          <a:p>
            <a:pPr>
              <a:defRPr sz="1100">
                <a:solidFill>
                  <a:srgbClr val="FFFFFF"/>
                </a:solidFill>
              </a:defRPr>
            </a:pPr>
            <a:r>
              <a:t>UserDAO, StudentDAO, ClubDAO, EventDAO, MembershipDAO, EventRegistrationDAO, AnnouncementDAO (Parameterized PreparedStatements with try-with-resources)</a:t>
            </a:r>
          </a:p>
        </p:txBody>
      </p:sp>
      <p:sp>
        <p:nvSpPr>
          <p:cNvPr id="12" name="Rounded Rectangle 11"/>
          <p:cNvSpPr/>
          <p:nvPr/>
        </p:nvSpPr>
        <p:spPr>
          <a:xfrm>
            <a:off x="731520" y="5074920"/>
            <a:ext cx="10728655" cy="1051560"/>
          </a:xfrm>
          <a:prstGeom prst="roundRect">
            <a:avLst/>
          </a:prstGeom>
          <a:solidFill>
            <a:srgbClr val="0F172A"/>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166359"/>
            <a:ext cx="10180015" cy="868680"/>
          </a:xfrm>
          <a:prstGeom prst="rect">
            <a:avLst/>
          </a:prstGeom>
          <a:noFill/>
        </p:spPr>
        <p:txBody>
          <a:bodyPr wrap="square">
            <a:spAutoFit/>
          </a:bodyPr>
          <a:lstStyle/>
          <a:p>
            <a:pPr>
              <a:defRPr b="1" sz="1300">
                <a:solidFill>
                  <a:srgbClr val="10B981"/>
                </a:solidFill>
              </a:defRPr>
            </a:pPr>
            <a:r>
              <a:t>4. Persistence Tier (MySQL 8 Database)</a:t>
            </a:r>
          </a:p>
          <a:p>
            <a:pPr>
              <a:defRPr sz="1100">
                <a:solidFill>
                  <a:srgbClr val="FFFFFF"/>
                </a:solidFill>
              </a:defRPr>
            </a:pPr>
            <a:r>
              <a:t>campus_club_db Schema: users (16), students (10), clubs (6), memberships (9), events (8), event_registrations (8), announcements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PERSISTENCE TIER</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Database Design &amp; Relational Schema</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The 7 Core Relational Tables</a:t>
            </a:r>
          </a:p>
        </p:txBody>
      </p:sp>
      <p:sp>
        <p:nvSpPr>
          <p:cNvPr id="8" name="TextBox 7"/>
          <p:cNvSpPr txBox="1"/>
          <p:nvPr/>
        </p:nvSpPr>
        <p:spPr>
          <a:xfrm>
            <a:off x="914400" y="1920240"/>
            <a:ext cx="4754880" cy="4114800"/>
          </a:xfrm>
          <a:prstGeom prst="rect">
            <a:avLst/>
          </a:prstGeom>
          <a:noFill/>
        </p:spPr>
        <p:txBody>
          <a:bodyPr wrap="square">
            <a:spAutoFit/>
          </a:bodyPr>
          <a:lstStyle/>
          <a:p>
            <a:pPr>
              <a:defRPr sz="1100">
                <a:solidFill>
                  <a:srgbClr val="0F172A"/>
                </a:solidFill>
              </a:defRPr>
            </a:pPr>
            <a:r>
              <a:t>1. users: Base credentials, full name, email, password_hash, role (STUDENT, COORDINATOR, ADMIN).</a:t>
            </a:r>
          </a:p>
          <a:p>
            <a:pPr>
              <a:defRPr sz="1100">
                <a:solidFill>
                  <a:srgbClr val="0F172A"/>
                </a:solidFill>
              </a:defRPr>
            </a:pPr>
            <a:r>
              <a:t>2. students: USN, branch, year, semester, CGPA, interest keywords (FK -&gt; users.user_id).</a:t>
            </a:r>
          </a:p>
          <a:p>
            <a:pPr>
              <a:defRPr sz="1100">
                <a:solidFill>
                  <a:srgbClr val="0F172A"/>
                </a:solidFill>
              </a:defRPr>
            </a:pPr>
            <a:r>
              <a:t>3. clubs: Name, category, description, status, coordinator (FK -&gt; users.user_id).</a:t>
            </a:r>
          </a:p>
          <a:p>
            <a:pPr>
              <a:defRPr sz="1100">
                <a:solidFill>
                  <a:srgbClr val="0F172A"/>
                </a:solidFill>
              </a:defRPr>
            </a:pPr>
            <a:r>
              <a:t>4. memberships: Student enrollments with composite UNIQUE(student_id, club_id).</a:t>
            </a:r>
          </a:p>
          <a:p>
            <a:pPr>
              <a:defRPr sz="1100">
                <a:solidFill>
                  <a:srgbClr val="0F172A"/>
                </a:solidFill>
              </a:defRPr>
            </a:pPr>
            <a:r>
              <a:t>5. events: Club events, venue, schedule, seat capacity, deadline (FK -&gt; clubs.club_id).</a:t>
            </a:r>
          </a:p>
          <a:p>
            <a:pPr>
              <a:defRPr sz="1100">
                <a:solidFill>
                  <a:srgbClr val="0F172A"/>
                </a:solidFill>
              </a:defRPr>
            </a:pPr>
            <a:r>
              <a:t>6. event_registrations: Attendee passes with composite UNIQUE(event_id, student_id).</a:t>
            </a:r>
          </a:p>
          <a:p>
            <a:pPr>
              <a:defRPr sz="1100">
                <a:solidFill>
                  <a:srgbClr val="0F172A"/>
                </a:solidFill>
              </a:defRPr>
            </a:pPr>
            <a:r>
              <a:t>7. announcements: Club broadcasts with priority ENUM (LOW, MEDIUM, HIGH).</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Relational Constraints &amp; Integrity</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Relational Integrity Rules:</a:t>
            </a:r>
          </a:p>
          <a:p>
            <a:pPr>
              <a:defRPr sz="1100">
                <a:solidFill>
                  <a:srgbClr val="0F172A"/>
                </a:solidFill>
              </a:defRPr>
            </a:pPr>
            <a:r>
              <a:t>• Foreign Key Cascades: Deleting a user safely cascades to delete linked student records; deleting a club cascades to its events and memberships.</a:t>
            </a:r>
          </a:p>
          <a:p>
            <a:pPr>
              <a:defRPr sz="1100">
                <a:solidFill>
                  <a:srgbClr val="0F172A"/>
                </a:solidFill>
              </a:defRPr>
            </a:pPr>
            <a:r>
              <a:t>• Anti-Duplicate Membership Constraint:</a:t>
            </a:r>
            <a:br/>
            <a:r>
              <a:t>CONSTRAINT uq_student_club UNIQUE (student_id, club_id)</a:t>
            </a:r>
            <a:br/>
            <a:r>
              <a:t>Guarantees at database level that no student can join the same club twice.</a:t>
            </a:r>
          </a:p>
          <a:p>
            <a:pPr>
              <a:defRPr sz="1100">
                <a:solidFill>
                  <a:srgbClr val="0F172A"/>
                </a:solidFill>
              </a:defRPr>
            </a:pPr>
            <a:r>
              <a:t>• Anti-Duplicate Event Registration:</a:t>
            </a:r>
            <a:br/>
            <a:r>
              <a:t>CONSTRAINT uq_event_student UNIQUE (event_id, student_id)</a:t>
            </a:r>
            <a:br/>
            <a:r>
              <a:t>Guarantees that no student can double-book an event pass.</a:t>
            </a:r>
          </a:p>
          <a:p>
            <a:pPr>
              <a:defRPr sz="1100">
                <a:solidFill>
                  <a:srgbClr val="0F172A"/>
                </a:solidFill>
              </a:defRPr>
            </a:pPr>
            <a:r>
              <a:t>• Parameterized PreparedStatements: 100% of SQL statements bind values via placeholders (?), preventing SQL injection.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OOP PRINCIPLES</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Object-Oriented Programming Implementation</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Encapsulation</a:t>
            </a:r>
          </a:p>
        </p:txBody>
      </p:sp>
      <p:sp>
        <p:nvSpPr>
          <p:cNvPr id="8" name="TextBox 7"/>
          <p:cNvSpPr txBox="1"/>
          <p:nvPr/>
        </p:nvSpPr>
        <p:spPr>
          <a:xfrm>
            <a:off x="914400" y="1965960"/>
            <a:ext cx="4754879" cy="1554480"/>
          </a:xfrm>
          <a:prstGeom prst="rect">
            <a:avLst/>
          </a:prstGeom>
          <a:noFill/>
        </p:spPr>
        <p:txBody>
          <a:bodyPr wrap="square">
            <a:spAutoFit/>
          </a:bodyPr>
          <a:lstStyle/>
          <a:p>
            <a:pPr>
              <a:defRPr b="1" sz="1100">
                <a:solidFill>
                  <a:srgbClr val="10B981"/>
                </a:solidFill>
              </a:defRPr>
            </a:pPr>
            <a:r>
              <a:t>DATA HIDING &amp; PROTECTION</a:t>
            </a:r>
          </a:p>
          <a:p>
            <a:pPr>
              <a:defRPr sz="1100">
                <a:solidFill>
                  <a:srgbClr val="0F172A"/>
                </a:solidFill>
              </a:defRPr>
            </a:pPr>
            <a:r>
              <a:t>All entity fields (User, Student, Club, Event) are private. Mutators validate boundaries (year: 1-5, positive capacity). Defensive copying with Collections.unmodifiableList() prevents external state corruption.</a:t>
            </a:r>
          </a:p>
        </p:txBody>
      </p:sp>
      <p:sp>
        <p:nvSpPr>
          <p:cNvPr id="9" name="Rounded Rectangle 8"/>
          <p:cNvSpPr/>
          <p:nvPr/>
        </p:nvSpPr>
        <p:spPr>
          <a:xfrm>
            <a:off x="62179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Inheritance</a:t>
            </a:r>
          </a:p>
        </p:txBody>
      </p:sp>
      <p:sp>
        <p:nvSpPr>
          <p:cNvPr id="11" name="TextBox 10"/>
          <p:cNvSpPr txBox="1"/>
          <p:nvPr/>
        </p:nvSpPr>
        <p:spPr>
          <a:xfrm>
            <a:off x="6400800" y="1965960"/>
            <a:ext cx="4846320" cy="1554480"/>
          </a:xfrm>
          <a:prstGeom prst="rect">
            <a:avLst/>
          </a:prstGeom>
          <a:noFill/>
        </p:spPr>
        <p:txBody>
          <a:bodyPr wrap="square">
            <a:spAutoFit/>
          </a:bodyPr>
          <a:lstStyle/>
          <a:p>
            <a:pPr>
              <a:defRPr b="1" sz="1100">
                <a:solidFill>
                  <a:srgbClr val="10B981"/>
                </a:solidFill>
              </a:defRPr>
            </a:pPr>
            <a:r>
              <a:t>CODE REUSE &amp; SPECIALIZATION</a:t>
            </a:r>
          </a:p>
          <a:p>
            <a:pPr>
              <a:defRPr sz="1100">
                <a:solidFill>
                  <a:srgbClr val="0F172A"/>
                </a:solidFill>
              </a:defRPr>
            </a:pPr>
            <a:r>
              <a:t>Abstract base class User defines shared fields (userId, username, email, role). Subclasses Student, ClubCoordinator, and Admin extend User with role-specific properties. Swing frames extend JFrame/JPanel.</a:t>
            </a:r>
          </a:p>
        </p:txBody>
      </p:sp>
      <p:sp>
        <p:nvSpPr>
          <p:cNvPr id="12" name="Rounded Rectangle 11"/>
          <p:cNvSpPr/>
          <p:nvPr/>
        </p:nvSpPr>
        <p:spPr>
          <a:xfrm>
            <a:off x="731520" y="3931920"/>
            <a:ext cx="512064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4754879" cy="411480"/>
          </a:xfrm>
          <a:prstGeom prst="rect">
            <a:avLst/>
          </a:prstGeom>
          <a:noFill/>
        </p:spPr>
        <p:txBody>
          <a:bodyPr wrap="square">
            <a:spAutoFit/>
          </a:bodyPr>
          <a:lstStyle/>
          <a:p>
            <a:pPr>
              <a:defRPr sz="1500" b="1">
                <a:solidFill>
                  <a:srgbClr val="2563EB"/>
                </a:solidFill>
              </a:defRPr>
            </a:pPr>
            <a:r>
              <a:t>Abstraction</a:t>
            </a:r>
          </a:p>
        </p:txBody>
      </p:sp>
      <p:sp>
        <p:nvSpPr>
          <p:cNvPr id="14" name="TextBox 13"/>
          <p:cNvSpPr txBox="1"/>
          <p:nvPr/>
        </p:nvSpPr>
        <p:spPr>
          <a:xfrm>
            <a:off x="914400" y="4526280"/>
            <a:ext cx="4754879" cy="1645920"/>
          </a:xfrm>
          <a:prstGeom prst="rect">
            <a:avLst/>
          </a:prstGeom>
          <a:noFill/>
        </p:spPr>
        <p:txBody>
          <a:bodyPr wrap="square">
            <a:spAutoFit/>
          </a:bodyPr>
          <a:lstStyle/>
          <a:p>
            <a:pPr>
              <a:defRPr b="1" sz="1100">
                <a:solidFill>
                  <a:srgbClr val="10B981"/>
                </a:solidFill>
              </a:defRPr>
            </a:pPr>
            <a:r>
              <a:t>CONTRACT DECOUPLING</a:t>
            </a:r>
          </a:p>
          <a:p>
            <a:pPr>
              <a:defRPr sz="1100">
                <a:solidFill>
                  <a:srgbClr val="0F172A"/>
                </a:solidFill>
              </a:defRPr>
            </a:pPr>
            <a:r>
              <a:t>User declares abstract methods (getRoleDisplayName(), getDashboardDescription()). High-level interfaces (ClubOperations, EventOperations, MembershipOperations) decouple GUI from DAO implementations.</a:t>
            </a:r>
          </a:p>
        </p:txBody>
      </p:sp>
      <p:sp>
        <p:nvSpPr>
          <p:cNvPr id="15" name="Rounded Rectangle 14"/>
          <p:cNvSpPr/>
          <p:nvPr/>
        </p:nvSpPr>
        <p:spPr>
          <a:xfrm>
            <a:off x="6217920" y="3931920"/>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69080"/>
            <a:ext cx="4846320" cy="411480"/>
          </a:xfrm>
          <a:prstGeom prst="rect">
            <a:avLst/>
          </a:prstGeom>
          <a:noFill/>
        </p:spPr>
        <p:txBody>
          <a:bodyPr wrap="square">
            <a:spAutoFit/>
          </a:bodyPr>
          <a:lstStyle/>
          <a:p>
            <a:pPr>
              <a:defRPr sz="1500" b="1">
                <a:solidFill>
                  <a:srgbClr val="2563EB"/>
                </a:solidFill>
              </a:defRPr>
            </a:pPr>
            <a:r>
              <a:t>Polymorphism &amp; Composition</a:t>
            </a:r>
          </a:p>
        </p:txBody>
      </p:sp>
      <p:sp>
        <p:nvSpPr>
          <p:cNvPr id="17" name="TextBox 16"/>
          <p:cNvSpPr txBox="1"/>
          <p:nvPr/>
        </p:nvSpPr>
        <p:spPr>
          <a:xfrm>
            <a:off x="6400800" y="4526280"/>
            <a:ext cx="4846320" cy="1645920"/>
          </a:xfrm>
          <a:prstGeom prst="rect">
            <a:avLst/>
          </a:prstGeom>
          <a:noFill/>
        </p:spPr>
        <p:txBody>
          <a:bodyPr wrap="square">
            <a:spAutoFit/>
          </a:bodyPr>
          <a:lstStyle/>
          <a:p>
            <a:pPr>
              <a:defRPr b="1" sz="1100">
                <a:solidFill>
                  <a:srgbClr val="10B981"/>
                </a:solidFill>
              </a:defRPr>
            </a:pPr>
            <a:r>
              <a:t>DYNAMIC DISPATCH &amp; HAS-A</a:t>
            </a:r>
          </a:p>
          <a:p>
            <a:pPr>
              <a:defRPr sz="1100">
                <a:solidFill>
                  <a:srgbClr val="0F172A"/>
                </a:solidFill>
              </a:defRPr>
            </a:pPr>
            <a:r>
              <a:t>Runtime Polymorphism: MainFrame dynamically mounts role dashboards based on User subtype. Composition: Club composes List&lt;Event&gt; and List&lt;Membership&gt;; Event composes attendee registrations.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RELIABILITY &amp; RECOVERY</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Exception Handling &amp; Boundary Architecture</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Custom User-Defined Exceptions</a:t>
            </a:r>
          </a:p>
        </p:txBody>
      </p:sp>
      <p:sp>
        <p:nvSpPr>
          <p:cNvPr id="8" name="TextBox 7"/>
          <p:cNvSpPr txBox="1"/>
          <p:nvPr/>
        </p:nvSpPr>
        <p:spPr>
          <a:xfrm>
            <a:off x="914400" y="1920240"/>
            <a:ext cx="4754880" cy="4114800"/>
          </a:xfrm>
          <a:prstGeom prst="rect">
            <a:avLst/>
          </a:prstGeom>
          <a:noFill/>
        </p:spPr>
        <p:txBody>
          <a:bodyPr wrap="square">
            <a:spAutoFit/>
          </a:bodyPr>
          <a:lstStyle/>
          <a:p>
            <a:pPr>
              <a:defRPr b="1" sz="1200">
                <a:solidFill>
                  <a:srgbClr val="2563EB"/>
                </a:solidFill>
              </a:defRPr>
            </a:pPr>
            <a:r>
              <a:t>Checked Exceptions (Domain Business Rules):</a:t>
            </a:r>
          </a:p>
          <a:p>
            <a:pPr>
              <a:defRPr sz="1100">
                <a:solidFill>
                  <a:srgbClr val="0F172A"/>
                </a:solidFill>
              </a:defRPr>
            </a:pPr>
            <a:r>
              <a:t>• InvalidLoginException:</a:t>
            </a:r>
            <a:br/>
            <a:r>
              <a:t>Thrown on credential mismatch, deactivated account, or empty inputs. Masks failure details to prevent username enumeration.</a:t>
            </a:r>
            <a:br/>
            <a:r>
              <a:t>• DuplicateMembershipException:</a:t>
            </a:r>
            <a:br/>
            <a:r>
              <a:t>Enforces that a student cannot join or apply for the same club twice.</a:t>
            </a:r>
            <a:br/>
            <a:r>
              <a:t>• ClubNotFoundException:</a:t>
            </a:r>
            <a:br/>
            <a:r>
              <a:t>Thrown when an operation targets a non-existent club identifier.</a:t>
            </a:r>
            <a:br/>
            <a:r>
              <a:t>• EventRegistrationException:</a:t>
            </a:r>
            <a:br/>
            <a:r>
              <a:t>Enforces capacity exhaustion, expired registration deadlines, and duplicate signups.</a:t>
            </a:r>
          </a:p>
          <a:p>
            <a:br/>
            <a:pPr>
              <a:defRPr b="1" sz="1200">
                <a:solidFill>
                  <a:srgbClr val="2563EB"/>
                </a:solidFill>
              </a:defRPr>
            </a:pPr>
            <a:r>
              <a:t>Unchecked Exceptions (Infrastructure):</a:t>
            </a:r>
          </a:p>
          <a:p>
            <a:pPr>
              <a:defRPr sz="1100">
                <a:solidFill>
                  <a:srgbClr val="0F172A"/>
                </a:solidFill>
              </a:defRPr>
            </a:pPr>
            <a:r>
              <a:t>• DatabaseOperationException (RuntimeException):</a:t>
            </a:r>
            <a:br/>
            <a:r>
              <a:t>Wraps JDBC SQLException, providing safe error diagnostics (Error 1045, 1049, 2003) without leaking raw passwords or schema details.</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Multi-Tier Error Flow</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Layer-by-Layer Exception Propagation:</a:t>
            </a:r>
          </a:p>
          <a:p>
            <a:pPr>
              <a:defRPr sz="1100">
                <a:solidFill>
                  <a:srgbClr val="0F172A"/>
                </a:solidFill>
              </a:defRPr>
            </a:pPr>
            <a:r>
              <a:t>1. Presentation Tier (Swing GUI):</a:t>
            </a:r>
            <a:br/>
            <a:r>
              <a:t>Catches domain exceptions and renders clear JOptionPane dialogs. Never prints raw stack traces to normal end-users.</a:t>
            </a:r>
          </a:p>
          <a:p>
            <a:pPr>
              <a:defRPr sz="1100">
                <a:solidFill>
                  <a:srgbClr val="0F172A"/>
                </a:solidFill>
              </a:defRPr>
            </a:pPr>
            <a:r>
              <a:t>2. Service Tier:</a:t>
            </a:r>
            <a:br/>
            <a:r>
              <a:t>Validates inputs with ValidationUtil and enforces domain constraints. Throws checked exceptions on business rule violations.</a:t>
            </a:r>
          </a:p>
          <a:p>
            <a:pPr>
              <a:defRPr sz="1100">
                <a:solidFill>
                  <a:srgbClr val="0F172A"/>
                </a:solidFill>
              </a:defRPr>
            </a:pPr>
            <a:r>
              <a:t>3. DAO Tier:</a:t>
            </a:r>
            <a:br/>
            <a:r>
              <a:t>Executes PreparedStatements inside try-with-resources. Catches SQLException and wraps it in DatabaseOperationException.</a:t>
            </a:r>
          </a:p>
          <a:p>
            <a:pPr>
              <a:defRPr sz="1100">
                <a:solidFill>
                  <a:srgbClr val="0F172A"/>
                </a:solidFill>
              </a:defRPr>
            </a:pPr>
            <a:r>
              <a:t>4. Fault Isolation Guarantee:</a:t>
            </a:r>
            <a:br/>
            <a:r>
              <a:t>A database disconnection or constraint violation is cleanly contained without crashing the desktop application.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ALGORITHMS &amp; DATA STRUCTURES</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Collections &amp; Smart Recommendation Algorithm</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Java Collections Framework Used</a:t>
            </a:r>
          </a:p>
        </p:txBody>
      </p:sp>
      <p:sp>
        <p:nvSpPr>
          <p:cNvPr id="8" name="TextBox 7"/>
          <p:cNvSpPr txBox="1"/>
          <p:nvPr/>
        </p:nvSpPr>
        <p:spPr>
          <a:xfrm>
            <a:off x="914400" y="1920240"/>
            <a:ext cx="4754880" cy="4114800"/>
          </a:xfrm>
          <a:prstGeom prst="rect">
            <a:avLst/>
          </a:prstGeom>
          <a:noFill/>
        </p:spPr>
        <p:txBody>
          <a:bodyPr wrap="square">
            <a:spAutoFit/>
          </a:bodyPr>
          <a:lstStyle/>
          <a:p>
            <a:pPr>
              <a:defRPr sz="1100">
                <a:solidFill>
                  <a:srgbClr val="0F172A"/>
                </a:solidFill>
              </a:defRPr>
            </a:pPr>
            <a:r>
              <a:t>• ArrayList&lt;T&gt;:</a:t>
            </a:r>
            <a:br/>
            <a:r>
              <a:t>Dynamic indexed sequences for table models, search results, and attendee rosters.</a:t>
            </a:r>
          </a:p>
          <a:p>
            <a:pPr>
              <a:defRPr sz="1100">
                <a:solidFill>
                  <a:srgbClr val="0F172A"/>
                </a:solidFill>
              </a:defRPr>
            </a:pPr>
            <a:r>
              <a:t>• HashSet&lt;T&gt; &amp; LinkedHashSet&lt;T&gt;:</a:t>
            </a:r>
            <a:br/>
            <a:r>
              <a:t>O(1) fast lookup to exclude clubs the student has already joined, and deduplicate interest keyword tokens.</a:t>
            </a:r>
          </a:p>
          <a:p>
            <a:pPr>
              <a:defRPr sz="1100">
                <a:solidFill>
                  <a:srgbClr val="0F172A"/>
                </a:solidFill>
              </a:defRPr>
            </a:pPr>
            <a:r>
              <a:t>• HashMap&lt;K, V&gt; &amp; LinkedHashMap&lt;K, V&gt;:</a:t>
            </a:r>
            <a:br/>
            <a:r>
              <a:t>Category taxonomy maps, synonym dictionaries, and aggregated dashboard statistics (e.g. member count per club).</a:t>
            </a:r>
          </a:p>
          <a:p>
            <a:pPr>
              <a:defRPr sz="1100">
                <a:solidFill>
                  <a:srgbClr val="0F172A"/>
                </a:solidFill>
              </a:defRPr>
            </a:pPr>
            <a:r>
              <a:t>• PriorityQueue&lt;T&gt; (Max-Heap):</a:t>
            </a:r>
            <a:br/>
            <a:r>
              <a:t>Extracts top-K recommendation results ranked descending by recommendation score.</a:t>
            </a:r>
          </a:p>
          <a:p>
            <a:pPr>
              <a:defRPr sz="1100">
                <a:solidFill>
                  <a:srgbClr val="0F172A"/>
                </a:solidFill>
              </a:defRPr>
            </a:pPr>
            <a:r>
              <a:t>• Comparator&lt;T&gt;:</a:t>
            </a:r>
            <a:br/>
            <a:r>
              <a:t>Multi-attribute sorting for clubs (by name/category) and events (by date).</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Rule-Based Recommendation Scoring</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Scoring Weight Hierarchy:</a:t>
            </a:r>
          </a:p>
          <a:p>
            <a:pPr>
              <a:defRPr sz="1100">
                <a:solidFill>
                  <a:srgbClr val="0F172A"/>
                </a:solidFill>
              </a:defRPr>
            </a:pPr>
            <a:r>
              <a:t>1. Category Exact Match: +50 Points</a:t>
            </a:r>
            <a:br/>
            <a:r>
              <a:t>(e.g., student selected 'Coding' and club category is 'Technical')</a:t>
            </a:r>
          </a:p>
          <a:p>
            <a:pPr>
              <a:defRPr sz="1100">
                <a:solidFill>
                  <a:srgbClr val="0F172A"/>
                </a:solidFill>
              </a:defRPr>
            </a:pPr>
            <a:r>
              <a:t>2. Title Keyword Match: +25 Points</a:t>
            </a:r>
            <a:br/>
            <a:r>
              <a:t>(e.g., club title contains 'Robotics' or 'Coding')</a:t>
            </a:r>
          </a:p>
          <a:p>
            <a:pPr>
              <a:defRPr sz="1100">
                <a:solidFill>
                  <a:srgbClr val="0F172A"/>
                </a:solidFill>
              </a:defRPr>
            </a:pPr>
            <a:r>
              <a:t>3. Description Keyword Match: +15 Points</a:t>
            </a:r>
            <a:br/>
            <a:r>
              <a:t>(e.g., description mentions 'AI' or 'IoT')</a:t>
            </a:r>
          </a:p>
          <a:p>
            <a:pPr>
              <a:defRPr sz="1100">
                <a:solidFill>
                  <a:srgbClr val="0F172A"/>
                </a:solidFill>
              </a:defRPr>
            </a:pPr>
            <a:r>
              <a:t>4. Domain Synonym Match: +10 Points</a:t>
            </a:r>
            <a:br/>
            <a:r>
              <a:t>(e.g., 'Programming' &lt;-&gt; 'Web Development')</a:t>
            </a:r>
          </a:p>
          <a:p>
            <a:pPr>
              <a:defRPr sz="1100">
                <a:solidFill>
                  <a:srgbClr val="0F172A"/>
                </a:solidFill>
              </a:defRPr>
            </a:pPr>
            <a:r>
              <a:t>5. Department Alignment Bonus: +15 Points</a:t>
            </a:r>
            <a:br/>
            <a:r>
              <a:t>(e.g., CSE student &lt;-&gt; Technical club)</a:t>
            </a:r>
          </a:p>
          <a:p>
            <a:pPr>
              <a:defRPr sz="1100">
                <a:solidFill>
                  <a:srgbClr val="0F172A"/>
                </a:solidFill>
              </a:defRPr>
            </a:pPr>
            <a:r>
              <a:t>Explainable Output:</a:t>
            </a:r>
            <a:br/>
            <a:r>
              <a:t>Every recommendation provides a match percentage and human-readable explanation (e.g., 'Recommended because you selected AI and Coding').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SWING PRESENTATION LAYER</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Core Graphical User Interface Modules</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32918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2926080" cy="411480"/>
          </a:xfrm>
          <a:prstGeom prst="rect">
            <a:avLst/>
          </a:prstGeom>
          <a:noFill/>
        </p:spPr>
        <p:txBody>
          <a:bodyPr wrap="square">
            <a:spAutoFit/>
          </a:bodyPr>
          <a:lstStyle/>
          <a:p>
            <a:pPr>
              <a:defRPr sz="1500" b="1">
                <a:solidFill>
                  <a:srgbClr val="2563EB"/>
                </a:solidFill>
              </a:defRPr>
            </a:pPr>
            <a:r>
              <a:t>Student Portal (7 Tabs)</a:t>
            </a:r>
          </a:p>
        </p:txBody>
      </p:sp>
      <p:sp>
        <p:nvSpPr>
          <p:cNvPr id="8" name="TextBox 7"/>
          <p:cNvSpPr txBox="1"/>
          <p:nvPr/>
        </p:nvSpPr>
        <p:spPr>
          <a:xfrm>
            <a:off x="914400" y="1965960"/>
            <a:ext cx="2926080" cy="4206240"/>
          </a:xfrm>
          <a:prstGeom prst="rect">
            <a:avLst/>
          </a:prstGeom>
          <a:noFill/>
        </p:spPr>
        <p:txBody>
          <a:bodyPr wrap="square">
            <a:spAutoFit/>
          </a:bodyPr>
          <a:lstStyle/>
          <a:p/>
          <a:p>
            <a:pPr>
              <a:defRPr sz="1000">
                <a:solidFill>
                  <a:srgbClr val="0F172A"/>
                </a:solidFill>
              </a:defRPr>
            </a:pPr>
            <a:r>
              <a:t>• Discover Clubs (Keyword search + category filter + 1-click join)</a:t>
            </a:r>
          </a:p>
          <a:p>
            <a:pPr>
              <a:defRPr sz="1000">
                <a:solidFill>
                  <a:srgbClr val="0F172A"/>
                </a:solidFill>
              </a:defRPr>
            </a:pPr>
            <a:r>
              <a:t>• My Memberships (Status tracking: APPROVED / PENDING + Leave club)</a:t>
            </a:r>
          </a:p>
          <a:p>
            <a:pPr>
              <a:defRPr sz="1000">
                <a:solidFill>
                  <a:srgbClr val="0F172A"/>
                </a:solidFill>
              </a:defRPr>
            </a:pPr>
            <a:r>
              <a:t>• Upcoming Events (Schedules, venue, capacity, remaining seats)</a:t>
            </a:r>
          </a:p>
          <a:p>
            <a:pPr>
              <a:defRPr sz="1000">
                <a:solidFill>
                  <a:srgbClr val="0F172A"/>
                </a:solidFill>
              </a:defRPr>
            </a:pPr>
            <a:r>
              <a:t>• My Event Passes (Active passes + 1-click cancellation)</a:t>
            </a:r>
          </a:p>
          <a:p>
            <a:pPr>
              <a:defRPr sz="1000">
                <a:solidFill>
                  <a:srgbClr val="0F172A"/>
                </a:solidFill>
              </a:defRPr>
            </a:pPr>
            <a:r>
              <a:t>• Announcements (Broadcast table with HIGH/MED/LOW priority tags)</a:t>
            </a:r>
          </a:p>
          <a:p>
            <a:pPr>
              <a:defRPr sz="1000">
                <a:solidFill>
                  <a:srgbClr val="0F172A"/>
                </a:solidFill>
              </a:defRPr>
            </a:pPr>
            <a:r>
              <a:t>• Smart Recommendations (Max-Heap suggestions with match %)</a:t>
            </a:r>
          </a:p>
          <a:p>
            <a:pPr>
              <a:defRPr sz="1000">
                <a:solidFill>
                  <a:srgbClr val="0F172A"/>
                </a:solidFill>
              </a:defRPr>
            </a:pPr>
            <a:r>
              <a:t>• My Profile (Academic info view + editable phone &amp; interest tags)</a:t>
            </a:r>
          </a:p>
        </p:txBody>
      </p:sp>
      <p:sp>
        <p:nvSpPr>
          <p:cNvPr id="9" name="Rounded Rectangle 8"/>
          <p:cNvSpPr/>
          <p:nvPr/>
        </p:nvSpPr>
        <p:spPr>
          <a:xfrm>
            <a:off x="4389120" y="1371600"/>
            <a:ext cx="32918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508760"/>
            <a:ext cx="2926080" cy="411480"/>
          </a:xfrm>
          <a:prstGeom prst="rect">
            <a:avLst/>
          </a:prstGeom>
          <a:noFill/>
        </p:spPr>
        <p:txBody>
          <a:bodyPr wrap="square">
            <a:spAutoFit/>
          </a:bodyPr>
          <a:lstStyle/>
          <a:p>
            <a:pPr>
              <a:defRPr sz="1500" b="1">
                <a:solidFill>
                  <a:srgbClr val="2563EB"/>
                </a:solidFill>
              </a:defRPr>
            </a:pPr>
            <a:r>
              <a:t>Coordinator Portal (4 Tabs)</a:t>
            </a:r>
          </a:p>
        </p:txBody>
      </p:sp>
      <p:sp>
        <p:nvSpPr>
          <p:cNvPr id="11" name="TextBox 10"/>
          <p:cNvSpPr txBox="1"/>
          <p:nvPr/>
        </p:nvSpPr>
        <p:spPr>
          <a:xfrm>
            <a:off x="4572000" y="1965960"/>
            <a:ext cx="2926080" cy="4206240"/>
          </a:xfrm>
          <a:prstGeom prst="rect">
            <a:avLst/>
          </a:prstGeom>
          <a:noFill/>
        </p:spPr>
        <p:txBody>
          <a:bodyPr wrap="square">
            <a:spAutoFit/>
          </a:bodyPr>
          <a:lstStyle/>
          <a:p/>
          <a:p>
            <a:pPr>
              <a:defRPr sz="1000">
                <a:solidFill>
                  <a:srgbClr val="0F172A"/>
                </a:solidFill>
              </a:defRPr>
            </a:pPr>
            <a:r>
              <a:t>• Club Overview (Manage profile, category, and editable description)</a:t>
            </a:r>
          </a:p>
          <a:p>
            <a:pPr>
              <a:defRPr sz="1000">
                <a:solidFill>
                  <a:srgbClr val="0F172A"/>
                </a:solidFill>
              </a:defRPr>
            </a:pPr>
            <a:r>
              <a:t>• Membership Requests (Review student applicants with status filter; Approve / Reject actions with instant database update)</a:t>
            </a:r>
          </a:p>
          <a:p>
            <a:pPr>
              <a:defRPr sz="1000">
                <a:solidFill>
                  <a:srgbClr val="0F172A"/>
                </a:solidFill>
              </a:defRPr>
            </a:pPr>
            <a:r>
              <a:t>• Manage Events &amp; Rosters (Create new event modal with seat limits and deadlines; View registered attendee roster with USNs; Delete event)</a:t>
            </a:r>
          </a:p>
          <a:p>
            <a:pPr>
              <a:defRPr sz="1000">
                <a:solidFill>
                  <a:srgbClr val="0F172A"/>
                </a:solidFill>
              </a:defRPr>
            </a:pPr>
            <a:r>
              <a:t>• Broadcast Announcements (Create and broadcast announcements with priority levels)</a:t>
            </a:r>
          </a:p>
        </p:txBody>
      </p:sp>
      <p:sp>
        <p:nvSpPr>
          <p:cNvPr id="12" name="Rounded Rectangle 11"/>
          <p:cNvSpPr/>
          <p:nvPr/>
        </p:nvSpPr>
        <p:spPr>
          <a:xfrm>
            <a:off x="8046720" y="1371600"/>
            <a:ext cx="33832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0" y="1508760"/>
            <a:ext cx="3017520" cy="411480"/>
          </a:xfrm>
          <a:prstGeom prst="rect">
            <a:avLst/>
          </a:prstGeom>
          <a:noFill/>
        </p:spPr>
        <p:txBody>
          <a:bodyPr wrap="square">
            <a:spAutoFit/>
          </a:bodyPr>
          <a:lstStyle/>
          <a:p>
            <a:pPr>
              <a:defRPr sz="1500" b="1">
                <a:solidFill>
                  <a:srgbClr val="2563EB"/>
                </a:solidFill>
              </a:defRPr>
            </a:pPr>
            <a:r>
              <a:t>Administrator Portal (4 Tabs)</a:t>
            </a:r>
          </a:p>
        </p:txBody>
      </p:sp>
      <p:sp>
        <p:nvSpPr>
          <p:cNvPr id="14" name="TextBox 13"/>
          <p:cNvSpPr txBox="1"/>
          <p:nvPr/>
        </p:nvSpPr>
        <p:spPr>
          <a:xfrm>
            <a:off x="8229600" y="1965960"/>
            <a:ext cx="3017520" cy="4206240"/>
          </a:xfrm>
          <a:prstGeom prst="rect">
            <a:avLst/>
          </a:prstGeom>
          <a:noFill/>
        </p:spPr>
        <p:txBody>
          <a:bodyPr wrap="square">
            <a:spAutoFit/>
          </a:bodyPr>
          <a:lstStyle/>
          <a:p/>
          <a:p>
            <a:pPr>
              <a:defRPr sz="1000">
                <a:solidFill>
                  <a:srgbClr val="0F172A"/>
                </a:solidFill>
              </a:defRPr>
            </a:pPr>
            <a:r>
              <a:t>• Live KPI Metric Cards (Real-time counts for Total Users, Campus Clubs, Active Clubs, and Scheduled Events)</a:t>
            </a:r>
          </a:p>
          <a:p>
            <a:pPr>
              <a:defRPr sz="1000">
                <a:solidFill>
                  <a:srgbClr val="0F172A"/>
                </a:solidFill>
              </a:defRPr>
            </a:pPr>
            <a:r>
              <a:t>• User Registry (Search users by name/email; filter by STUDENT, COORDINATOR, ADMIN; zero password hash leakage)</a:t>
            </a:r>
          </a:p>
          <a:p>
            <a:pPr>
              <a:defRPr sz="1000">
                <a:solidFill>
                  <a:srgbClr val="0F172A"/>
                </a:solidFill>
              </a:defRPr>
            </a:pPr>
            <a:r>
              <a:t>• Manage Clubs (Register new club modal, assign coordinator, toggle status ACTIVE/INACTIVE, delete club)</a:t>
            </a:r>
          </a:p>
          <a:p>
            <a:pPr>
              <a:defRPr sz="1000">
                <a:solidFill>
                  <a:srgbClr val="0F172A"/>
                </a:solidFill>
              </a:defRPr>
            </a:pPr>
            <a:r>
              <a:t>• Campus Events (Supervise all events and broadcasts)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SYSTEM SECURITY</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Security &amp; Data Integrity Implementation</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SHA-256 Password Hashing</a:t>
            </a:r>
          </a:p>
        </p:txBody>
      </p:sp>
      <p:sp>
        <p:nvSpPr>
          <p:cNvPr id="8" name="TextBox 7"/>
          <p:cNvSpPr txBox="1"/>
          <p:nvPr/>
        </p:nvSpPr>
        <p:spPr>
          <a:xfrm>
            <a:off x="914400" y="1965960"/>
            <a:ext cx="4754879" cy="1554480"/>
          </a:xfrm>
          <a:prstGeom prst="rect">
            <a:avLst/>
          </a:prstGeom>
          <a:noFill/>
        </p:spPr>
        <p:txBody>
          <a:bodyPr wrap="square">
            <a:spAutoFit/>
          </a:bodyPr>
          <a:lstStyle/>
          <a:p>
            <a:pPr>
              <a:defRPr b="1" sz="1100">
                <a:solidFill>
                  <a:srgbClr val="10B981"/>
                </a:solidFill>
              </a:defRPr>
            </a:pPr>
            <a:r>
              <a:t>CRYPTOGRAPHIC PROTECTION</a:t>
            </a:r>
          </a:p>
          <a:p>
            <a:pPr>
              <a:defRPr sz="1100">
                <a:solidFill>
                  <a:srgbClr val="0F172A"/>
                </a:solidFill>
              </a:defRPr>
            </a:pPr>
            <a:r>
              <a:t>Passwords are never stored, logged, or compared in plaintext. During registration and authentication, PasswordUtil digests credentials using SHA-256 before database comparison.</a:t>
            </a:r>
          </a:p>
        </p:txBody>
      </p:sp>
      <p:sp>
        <p:nvSpPr>
          <p:cNvPr id="9" name="Rounded Rectangle 8"/>
          <p:cNvSpPr/>
          <p:nvPr/>
        </p:nvSpPr>
        <p:spPr>
          <a:xfrm>
            <a:off x="6217920" y="1371600"/>
            <a:ext cx="5212080"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SQL Injection Immunity</a:t>
            </a:r>
          </a:p>
        </p:txBody>
      </p:sp>
      <p:sp>
        <p:nvSpPr>
          <p:cNvPr id="11" name="TextBox 10"/>
          <p:cNvSpPr txBox="1"/>
          <p:nvPr/>
        </p:nvSpPr>
        <p:spPr>
          <a:xfrm>
            <a:off x="6400800" y="1965960"/>
            <a:ext cx="4846320" cy="1554480"/>
          </a:xfrm>
          <a:prstGeom prst="rect">
            <a:avLst/>
          </a:prstGeom>
          <a:noFill/>
        </p:spPr>
        <p:txBody>
          <a:bodyPr wrap="square">
            <a:spAutoFit/>
          </a:bodyPr>
          <a:lstStyle/>
          <a:p>
            <a:pPr>
              <a:defRPr b="1" sz="1100">
                <a:solidFill>
                  <a:srgbClr val="10B981"/>
                </a:solidFill>
              </a:defRPr>
            </a:pPr>
            <a:r>
              <a:t>PREPAREDSTATEMENT USAGE</a:t>
            </a:r>
          </a:p>
          <a:p>
            <a:pPr>
              <a:defRPr sz="1100">
                <a:solidFill>
                  <a:srgbClr val="0F172A"/>
                </a:solidFill>
              </a:defRPr>
            </a:pPr>
            <a:r>
              <a:t>100% of DAO database interactions use parameterized PreparedStatement queries. User input is bound as data literals, rendering SQL injection attacks impossible.</a:t>
            </a:r>
          </a:p>
        </p:txBody>
      </p:sp>
      <p:sp>
        <p:nvSpPr>
          <p:cNvPr id="12" name="Rounded Rectangle 11"/>
          <p:cNvSpPr/>
          <p:nvPr/>
        </p:nvSpPr>
        <p:spPr>
          <a:xfrm>
            <a:off x="731520" y="3931920"/>
            <a:ext cx="512064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4754879" cy="411480"/>
          </a:xfrm>
          <a:prstGeom prst="rect">
            <a:avLst/>
          </a:prstGeom>
          <a:noFill/>
        </p:spPr>
        <p:txBody>
          <a:bodyPr wrap="square">
            <a:spAutoFit/>
          </a:bodyPr>
          <a:lstStyle/>
          <a:p>
            <a:pPr>
              <a:defRPr sz="1500" b="1">
                <a:solidFill>
                  <a:srgbClr val="2563EB"/>
                </a:solidFill>
              </a:defRPr>
            </a:pPr>
            <a:r>
              <a:t>Role-Based Authorization</a:t>
            </a:r>
          </a:p>
        </p:txBody>
      </p:sp>
      <p:sp>
        <p:nvSpPr>
          <p:cNvPr id="14" name="TextBox 13"/>
          <p:cNvSpPr txBox="1"/>
          <p:nvPr/>
        </p:nvSpPr>
        <p:spPr>
          <a:xfrm>
            <a:off x="914400" y="4526280"/>
            <a:ext cx="4754879" cy="1645920"/>
          </a:xfrm>
          <a:prstGeom prst="rect">
            <a:avLst/>
          </a:prstGeom>
          <a:noFill/>
        </p:spPr>
        <p:txBody>
          <a:bodyPr wrap="square">
            <a:spAutoFit/>
          </a:bodyPr>
          <a:lstStyle/>
          <a:p>
            <a:pPr>
              <a:defRPr b="1" sz="1100">
                <a:solidFill>
                  <a:srgbClr val="10B981"/>
                </a:solidFill>
              </a:defRPr>
            </a:pPr>
            <a:r>
              <a:t>BOUNDARY ISOLATION</a:t>
            </a:r>
          </a:p>
          <a:p>
            <a:pPr>
              <a:defRPr sz="1100">
                <a:solidFill>
                  <a:srgbClr val="0F172A"/>
                </a:solidFill>
              </a:defRPr>
            </a:pPr>
            <a:r>
              <a:t>MainFrame's polymorphic router enforces strict UI boundaries. Coordinators cannot access other clubs or admin tools; students cannot access administrative panels.</a:t>
            </a:r>
          </a:p>
        </p:txBody>
      </p:sp>
      <p:sp>
        <p:nvSpPr>
          <p:cNvPr id="15" name="Rounded Rectangle 14"/>
          <p:cNvSpPr/>
          <p:nvPr/>
        </p:nvSpPr>
        <p:spPr>
          <a:xfrm>
            <a:off x="6217920" y="3931920"/>
            <a:ext cx="5212080" cy="2377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069080"/>
            <a:ext cx="4846320" cy="411480"/>
          </a:xfrm>
          <a:prstGeom prst="rect">
            <a:avLst/>
          </a:prstGeom>
          <a:noFill/>
        </p:spPr>
        <p:txBody>
          <a:bodyPr wrap="square">
            <a:spAutoFit/>
          </a:bodyPr>
          <a:lstStyle/>
          <a:p>
            <a:pPr>
              <a:defRPr sz="1500" b="1">
                <a:solidFill>
                  <a:srgbClr val="2563EB"/>
                </a:solidFill>
              </a:defRPr>
            </a:pPr>
            <a:r>
              <a:t>Zero Information Leakage</a:t>
            </a:r>
          </a:p>
        </p:txBody>
      </p:sp>
      <p:sp>
        <p:nvSpPr>
          <p:cNvPr id="17" name="TextBox 16"/>
          <p:cNvSpPr txBox="1"/>
          <p:nvPr/>
        </p:nvSpPr>
        <p:spPr>
          <a:xfrm>
            <a:off x="6400800" y="4526280"/>
            <a:ext cx="4846320" cy="1645920"/>
          </a:xfrm>
          <a:prstGeom prst="rect">
            <a:avLst/>
          </a:prstGeom>
          <a:noFill/>
        </p:spPr>
        <p:txBody>
          <a:bodyPr wrap="square">
            <a:spAutoFit/>
          </a:bodyPr>
          <a:lstStyle/>
          <a:p>
            <a:pPr>
              <a:defRPr b="1" sz="1100">
                <a:solidFill>
                  <a:srgbClr val="10B981"/>
                </a:solidFill>
              </a:defRPr>
            </a:pPr>
            <a:r>
              <a:t>PRIVACY PRESERVATION</a:t>
            </a:r>
          </a:p>
          <a:p>
            <a:pPr>
              <a:defRPr sz="1100">
                <a:solidFill>
                  <a:srgbClr val="0F172A"/>
                </a:solidFill>
              </a:defRPr>
            </a:pPr>
            <a:r>
              <a:t>User registry JTable displays User ID, Username, Name, Email, and Role, but never retrieves or exposes password hashes. Login error messages prevent username enumeration.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VERIFICATION EVIDENCE</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Automated Testing &amp; Visual Verification</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JUnit 5 Automated Test Metrics</a:t>
            </a:r>
          </a:p>
        </p:txBody>
      </p:sp>
      <p:sp>
        <p:nvSpPr>
          <p:cNvPr id="8" name="TextBox 7"/>
          <p:cNvSpPr txBox="1"/>
          <p:nvPr/>
        </p:nvSpPr>
        <p:spPr>
          <a:xfrm>
            <a:off x="914400" y="1920240"/>
            <a:ext cx="4754880" cy="4114800"/>
          </a:xfrm>
          <a:prstGeom prst="rect">
            <a:avLst/>
          </a:prstGeom>
          <a:noFill/>
        </p:spPr>
        <p:txBody>
          <a:bodyPr wrap="square">
            <a:spAutoFit/>
          </a:bodyPr>
          <a:lstStyle/>
          <a:p>
            <a:pPr>
              <a:defRPr b="1" sz="1200">
                <a:solidFill>
                  <a:srgbClr val="2563EB"/>
                </a:solidFill>
              </a:defRPr>
            </a:pPr>
            <a:r>
              <a:t>Test Suite Breakdown (91 Total Tests):</a:t>
            </a:r>
          </a:p>
          <a:p>
            <a:pPr>
              <a:defRPr sz="1100">
                <a:solidFill>
                  <a:srgbClr val="0F172A"/>
                </a:solidFill>
              </a:defRPr>
            </a:pPr>
            <a:r>
              <a:t>• OOPConceptsTest: 11 / 11 Passed (OOP Rigor)</a:t>
            </a:r>
          </a:p>
          <a:p>
            <a:pPr>
              <a:defRPr sz="1100">
                <a:solidFill>
                  <a:srgbClr val="0F172A"/>
                </a:solidFill>
              </a:defRPr>
            </a:pPr>
            <a:r>
              <a:t>• ExceptionHandlingTest: 11 / 11 Passed (Error Boundaries)</a:t>
            </a:r>
          </a:p>
          <a:p>
            <a:pPr>
              <a:defRPr sz="1100">
                <a:solidFill>
                  <a:srgbClr val="0F172A"/>
                </a:solidFill>
              </a:defRPr>
            </a:pPr>
            <a:r>
              <a:t>• CollectionsAndRecommendationTest: 31 / 31 Passed (Heap/Rules)</a:t>
            </a:r>
          </a:p>
          <a:p>
            <a:pPr>
              <a:defRPr sz="1100">
                <a:solidFill>
                  <a:srgbClr val="0F172A"/>
                </a:solidFill>
              </a:defRPr>
            </a:pPr>
            <a:r>
              <a:t>• CredentialsConsistencyTest: 5 / 5 Passed (Auth Mappings)</a:t>
            </a:r>
          </a:p>
          <a:p>
            <a:pPr>
              <a:defRPr sz="1100">
                <a:solidFill>
                  <a:srgbClr val="0F172A"/>
                </a:solidFill>
              </a:defRPr>
            </a:pPr>
            <a:r>
              <a:t>• GUIIntegrationTest: 11 / 11 Passed (Headless Swing Views)</a:t>
            </a:r>
          </a:p>
          <a:p>
            <a:pPr>
              <a:defRPr sz="1100">
                <a:solidFill>
                  <a:srgbClr val="0F172A"/>
                </a:solidFill>
              </a:defRPr>
            </a:pPr>
            <a:r>
              <a:t>• IntegrationTest: 7 / 7 Passed (Multi-Role Workflows)</a:t>
            </a:r>
          </a:p>
          <a:p>
            <a:pPr>
              <a:defRPr sz="1100">
                <a:solidFill>
                  <a:srgbClr val="0F172A"/>
                </a:solidFill>
              </a:defRPr>
            </a:pPr>
            <a:r>
              <a:t>• CampusClubModelTest: 4 / 4 Passed (Domain POJOs)</a:t>
            </a:r>
          </a:p>
          <a:p>
            <a:pPr>
              <a:defRPr sz="1100">
                <a:solidFill>
                  <a:srgbClr val="0F172A"/>
                </a:solidFill>
              </a:defRPr>
            </a:pPr>
            <a:r>
              <a:t>• LiveDatabaseTest: 11 Conditionally Skipped (Runs against live MySQL)</a:t>
            </a:r>
          </a:p>
          <a:p>
            <a:br/>
            <a:pPr>
              <a:defRPr b="1" sz="1100">
                <a:solidFill>
                  <a:srgbClr val="10B981"/>
                </a:solidFill>
              </a:defRPr>
            </a:pPr>
            <a:r>
              <a:t>Summary: 80 Passed, 0 Failures, 0 Errors, 11 Conditional Skips.</a:t>
            </a:r>
            <a:br/>
            <a:r>
              <a:t>Build Status: Maven BUILD SUCCESS.</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Visual Verification &amp; Screenshots</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Verified GUI Screenshot Artifacts:</a:t>
            </a:r>
          </a:p>
          <a:p>
            <a:pPr>
              <a:defRPr sz="1100">
                <a:solidFill>
                  <a:srgbClr val="0F172A"/>
                </a:solidFill>
              </a:defRPr>
            </a:pPr>
            <a:r>
              <a:t>• 1. Login Screen: Card design with demo credentials hint.</a:t>
            </a:r>
          </a:p>
          <a:p>
            <a:pPr>
              <a:defRPr sz="1100">
                <a:solidFill>
                  <a:srgbClr val="0F172A"/>
                </a:solidFill>
              </a:defRPr>
            </a:pPr>
            <a:r>
              <a:t>• 2. Student Dashboard: 4 summary cards &amp; 7 interactive tabs.</a:t>
            </a:r>
          </a:p>
          <a:p>
            <a:pPr>
              <a:defRPr sz="1100">
                <a:solidFill>
                  <a:srgbClr val="0F172A"/>
                </a:solidFill>
              </a:defRPr>
            </a:pPr>
            <a:r>
              <a:t>• 3. Event Registration: Real-time seat tallying &amp; capacity validation.</a:t>
            </a:r>
          </a:p>
          <a:p>
            <a:pPr>
              <a:defRPr sz="1100">
                <a:solidFill>
                  <a:srgbClr val="0F172A"/>
                </a:solidFill>
              </a:defRPr>
            </a:pPr>
            <a:r>
              <a:t>• 4. Recommendations: Max-Heap ranked matches with rationale.</a:t>
            </a:r>
          </a:p>
          <a:p>
            <a:pPr>
              <a:defRPr sz="1100">
                <a:solidFill>
                  <a:srgbClr val="0F172A"/>
                </a:solidFill>
              </a:defRPr>
            </a:pPr>
            <a:r>
              <a:t>• 5. Coordinator Dashboard: Club roster &amp; applicant approval.</a:t>
            </a:r>
          </a:p>
          <a:p>
            <a:pPr>
              <a:defRPr sz="1100">
                <a:solidFill>
                  <a:srgbClr val="0F172A"/>
                </a:solidFill>
              </a:defRPr>
            </a:pPr>
            <a:r>
              <a:t>• 6. Event Scheduler: Creation modal with deadlines &amp; capacity caps.</a:t>
            </a:r>
          </a:p>
          <a:p>
            <a:pPr>
              <a:defRPr sz="1100">
                <a:solidFill>
                  <a:srgbClr val="0F172A"/>
                </a:solidFill>
              </a:defRPr>
            </a:pPr>
            <a:r>
              <a:t>• 7. Admin Dashboard: Live metric cards &amp; user registry filtering.</a:t>
            </a:r>
          </a:p>
          <a:p>
            <a:pPr>
              <a:defRPr sz="1100">
                <a:solidFill>
                  <a:srgbClr val="0F172A"/>
                </a:solidFill>
              </a:defRPr>
            </a:pPr>
            <a:r>
              <a:t>• 8. MySQL Database: 7 normalized tables verified via CLI.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92A56"/>
          </a:solidFill>
          <a:ln>
            <a:solidFill>
              <a:srgbClr val="192A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698480" cy="274320"/>
          </a:xfrm>
          <a:prstGeom prst="rect">
            <a:avLst/>
          </a:prstGeom>
          <a:noFill/>
        </p:spPr>
        <p:txBody>
          <a:bodyPr wrap="square">
            <a:spAutoFit/>
          </a:bodyPr>
          <a:lstStyle/>
          <a:p>
            <a:pPr>
              <a:defRPr sz="1100" b="1">
                <a:solidFill>
                  <a:srgbClr val="10B981"/>
                </a:solidFill>
              </a:defRPr>
            </a:pPr>
            <a:r>
              <a:t>SUMMARY &amp; OUTLOOK</a:t>
            </a:r>
          </a:p>
        </p:txBody>
      </p:sp>
      <p:sp>
        <p:nvSpPr>
          <p:cNvPr id="4" name="TextBox 3"/>
          <p:cNvSpPr txBox="1"/>
          <p:nvPr/>
        </p:nvSpPr>
        <p:spPr>
          <a:xfrm>
            <a:off x="731520" y="320040"/>
            <a:ext cx="10698480" cy="594360"/>
          </a:xfrm>
          <a:prstGeom prst="rect">
            <a:avLst/>
          </a:prstGeom>
          <a:noFill/>
        </p:spPr>
        <p:txBody>
          <a:bodyPr wrap="square">
            <a:spAutoFit/>
          </a:bodyPr>
          <a:lstStyle/>
          <a:p>
            <a:pPr>
              <a:defRPr sz="2200" b="1">
                <a:solidFill>
                  <a:srgbClr val="FFFFFF"/>
                </a:solidFill>
              </a:defRPr>
            </a:pPr>
            <a:r>
              <a:t>Conclusion &amp; Future Enhancements</a:t>
            </a:r>
          </a:p>
        </p:txBody>
      </p:sp>
      <p:sp>
        <p:nvSpPr>
          <p:cNvPr id="5" name="Rectangle 4"/>
          <p:cNvSpPr/>
          <p:nvPr/>
        </p:nvSpPr>
        <p:spPr>
          <a:xfrm>
            <a:off x="0" y="1051560"/>
            <a:ext cx="12191695" cy="54864"/>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371600"/>
            <a:ext cx="512064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08760"/>
            <a:ext cx="4754879" cy="411480"/>
          </a:xfrm>
          <a:prstGeom prst="rect">
            <a:avLst/>
          </a:prstGeom>
          <a:noFill/>
        </p:spPr>
        <p:txBody>
          <a:bodyPr wrap="square">
            <a:spAutoFit/>
          </a:bodyPr>
          <a:lstStyle/>
          <a:p>
            <a:pPr>
              <a:defRPr sz="1500" b="1">
                <a:solidFill>
                  <a:srgbClr val="2563EB"/>
                </a:solidFill>
              </a:defRPr>
            </a:pPr>
            <a:r>
              <a:t>Project Conclusion &amp; Key Takeaways</a:t>
            </a:r>
          </a:p>
        </p:txBody>
      </p:sp>
      <p:sp>
        <p:nvSpPr>
          <p:cNvPr id="8" name="TextBox 7"/>
          <p:cNvSpPr txBox="1"/>
          <p:nvPr/>
        </p:nvSpPr>
        <p:spPr>
          <a:xfrm>
            <a:off x="914400" y="1920240"/>
            <a:ext cx="4754880" cy="4114800"/>
          </a:xfrm>
          <a:prstGeom prst="rect">
            <a:avLst/>
          </a:prstGeom>
          <a:noFill/>
        </p:spPr>
        <p:txBody>
          <a:bodyPr wrap="square">
            <a:spAutoFit/>
          </a:bodyPr>
          <a:lstStyle/>
          <a:p>
            <a:pPr>
              <a:defRPr b="1" sz="1300">
                <a:solidFill>
                  <a:srgbClr val="2563EB"/>
                </a:solidFill>
              </a:defRPr>
            </a:pPr>
            <a:r>
              <a:t>Key Project Achievements:</a:t>
            </a:r>
          </a:p>
          <a:p>
            <a:pPr>
              <a:defRPr sz="1100">
                <a:solidFill>
                  <a:srgbClr val="0F172A"/>
                </a:solidFill>
              </a:defRPr>
            </a:pPr>
            <a:r>
              <a:t>• Successfully engineered a robust Java Swing desktop platform eliminating manual spreadsheet errors and hall overcrowding.</a:t>
            </a:r>
          </a:p>
          <a:p>
            <a:pPr>
              <a:defRPr sz="1100">
                <a:solidFill>
                  <a:srgbClr val="0F172A"/>
                </a:solidFill>
              </a:defRPr>
            </a:pPr>
            <a:r>
              <a:t>• Enforced dual-layer business rules using Java service validations and MySQL relational unique constraints.</a:t>
            </a:r>
          </a:p>
          <a:p>
            <a:pPr>
              <a:defRPr sz="1100">
                <a:solidFill>
                  <a:srgbClr val="0F172A"/>
                </a:solidFill>
              </a:defRPr>
            </a:pPr>
            <a:r>
              <a:t>• Implemented a private, client-side Smart Recommendation Engine using a Max-Heap PriorityQueue.</a:t>
            </a:r>
          </a:p>
          <a:p>
            <a:pPr>
              <a:defRPr sz="1100">
                <a:solidFill>
                  <a:srgbClr val="0F172A"/>
                </a:solidFill>
              </a:defRPr>
            </a:pPr>
            <a:r>
              <a:t>• Maintained 100% adherence to core OOP principles, custom exception handling, and parameterized SQL security.</a:t>
            </a:r>
          </a:p>
          <a:p>
            <a:pPr>
              <a:defRPr sz="1100">
                <a:solidFill>
                  <a:srgbClr val="0F172A"/>
                </a:solidFill>
              </a:defRPr>
            </a:pPr>
            <a:r>
              <a:t>• Completed comprehensive documentation and 91 automated unit and integration tests.</a:t>
            </a:r>
          </a:p>
        </p:txBody>
      </p:sp>
      <p:sp>
        <p:nvSpPr>
          <p:cNvPr id="9" name="Rounded Rectangle 8"/>
          <p:cNvSpPr/>
          <p:nvPr/>
        </p:nvSpPr>
        <p:spPr>
          <a:xfrm>
            <a:off x="6217920" y="1371600"/>
            <a:ext cx="5212080" cy="49377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508760"/>
            <a:ext cx="4846320" cy="411480"/>
          </a:xfrm>
          <a:prstGeom prst="rect">
            <a:avLst/>
          </a:prstGeom>
          <a:noFill/>
        </p:spPr>
        <p:txBody>
          <a:bodyPr wrap="square">
            <a:spAutoFit/>
          </a:bodyPr>
          <a:lstStyle/>
          <a:p>
            <a:pPr>
              <a:defRPr sz="1500" b="1">
                <a:solidFill>
                  <a:srgbClr val="2563EB"/>
                </a:solidFill>
              </a:defRPr>
            </a:pPr>
            <a:r>
              <a:t>Future Roadmap</a:t>
            </a:r>
          </a:p>
        </p:txBody>
      </p:sp>
      <p:sp>
        <p:nvSpPr>
          <p:cNvPr id="11" name="TextBox 10"/>
          <p:cNvSpPr txBox="1"/>
          <p:nvPr/>
        </p:nvSpPr>
        <p:spPr>
          <a:xfrm>
            <a:off x="6400800" y="1920240"/>
            <a:ext cx="4846320" cy="4114800"/>
          </a:xfrm>
          <a:prstGeom prst="rect">
            <a:avLst/>
          </a:prstGeom>
          <a:noFill/>
        </p:spPr>
        <p:txBody>
          <a:bodyPr wrap="square">
            <a:spAutoFit/>
          </a:bodyPr>
          <a:lstStyle/>
          <a:p>
            <a:pPr>
              <a:defRPr b="1" sz="1300">
                <a:solidFill>
                  <a:srgbClr val="2563EB"/>
                </a:solidFill>
              </a:defRPr>
            </a:pPr>
            <a:r>
              <a:t>Future Technical Enhancements:</a:t>
            </a:r>
          </a:p>
          <a:p>
            <a:pPr>
              <a:defRPr sz="1100">
                <a:solidFill>
                  <a:srgbClr val="0F172A"/>
                </a:solidFill>
              </a:defRPr>
            </a:pPr>
            <a:r>
              <a:t>1. Asynchronous SwingWorker:</a:t>
            </a:r>
            <a:br/>
            <a:r>
              <a:t>Wrap JDBC queries inside background threads with loading progress bars to eliminate UI latency on slow remote networks.</a:t>
            </a:r>
          </a:p>
          <a:p>
            <a:pPr>
              <a:defRPr sz="1100">
                <a:solidFill>
                  <a:srgbClr val="0F172A"/>
                </a:solidFill>
              </a:defRPr>
            </a:pPr>
            <a:r>
              <a:t>2. Automated PDF Certificate Export:</a:t>
            </a:r>
            <a:br/>
            <a:r>
              <a:t>Integrate Apache PDFBox to generate downloadable event participation certificates for students.</a:t>
            </a:r>
          </a:p>
          <a:p>
            <a:pPr>
              <a:defRPr sz="1100">
                <a:solidFill>
                  <a:srgbClr val="0F172A"/>
                </a:solidFill>
              </a:defRPr>
            </a:pPr>
            <a:r>
              <a:t>3. Automated Email Broadcasts:</a:t>
            </a:r>
            <a:br/>
            <a:r>
              <a:t>Integrate JavaMail API to send registration confirmations and broadcast notices directly to student inboxes.</a:t>
            </a:r>
          </a:p>
          <a:p>
            <a:pPr>
              <a:defRPr sz="1100">
                <a:solidFill>
                  <a:srgbClr val="0F172A"/>
                </a:solidFill>
              </a:defRPr>
            </a:pPr>
            <a:r>
              <a:t>4. QR Code Attendance Scanner:</a:t>
            </a:r>
            <a:br/>
            <a:r>
              <a:t>Provide webcam/mobile QR code check-in scanning for coordinators at hall entrance doors.</a:t>
            </a:r>
          </a:p>
          <a:p>
            <a:pPr>
              <a:defRPr sz="1100">
                <a:solidFill>
                  <a:srgbClr val="0F172A"/>
                </a:solidFill>
              </a:defRPr>
            </a:pPr>
            <a:r>
              <a:t>5. REST API Architecture:</a:t>
            </a:r>
            <a:br/>
            <a:r>
              <a:t>Decouple Service and DAO layers into a headless backend to support mobile apps alongside the Swing desktop client.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